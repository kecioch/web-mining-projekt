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413" r:id="rId2"/>
    <p:sldId id="418" r:id="rId3"/>
    <p:sldId id="421" r:id="rId4"/>
    <p:sldId id="431" r:id="rId5"/>
    <p:sldId id="430" r:id="rId6"/>
    <p:sldId id="434" r:id="rId7"/>
    <p:sldId id="435" r:id="rId8"/>
    <p:sldId id="436" r:id="rId9"/>
    <p:sldId id="447" r:id="rId10"/>
    <p:sldId id="446" r:id="rId11"/>
    <p:sldId id="425" r:id="rId12"/>
    <p:sldId id="439" r:id="rId13"/>
    <p:sldId id="449" r:id="rId14"/>
    <p:sldId id="450" r:id="rId15"/>
    <p:sldId id="451" r:id="rId16"/>
    <p:sldId id="452" r:id="rId17"/>
    <p:sldId id="440" r:id="rId18"/>
    <p:sldId id="441" r:id="rId19"/>
    <p:sldId id="442" r:id="rId20"/>
    <p:sldId id="443" r:id="rId21"/>
    <p:sldId id="444" r:id="rId22"/>
    <p:sldId id="445" r:id="rId23"/>
    <p:sldId id="428" r:id="rId24"/>
    <p:sldId id="448" r:id="rId25"/>
    <p:sldId id="420" r:id="rId26"/>
  </p:sldIdLst>
  <p:sldSz cx="9144000" cy="5143500" type="screen16x9"/>
  <p:notesSz cx="6858000" cy="9661525"/>
  <p:custShowLst>
    <p:custShow name="Mustermann1" id="0">
      <p:sldLst/>
    </p:custShow>
  </p:custShow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500" kern="1200">
        <a:solidFill>
          <a:srgbClr val="0028AD"/>
        </a:solidFill>
        <a:latin typeface="Arial" charset="0"/>
        <a:ea typeface="ＭＳ Ｐゴシック" charset="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FB8F45D-6642-4A14-9C4F-DEDB5EF3AD15}">
          <p14:sldIdLst>
            <p14:sldId id="413"/>
            <p14:sldId id="418"/>
            <p14:sldId id="421"/>
            <p14:sldId id="431"/>
            <p14:sldId id="430"/>
            <p14:sldId id="434"/>
            <p14:sldId id="435"/>
            <p14:sldId id="436"/>
            <p14:sldId id="447"/>
            <p14:sldId id="446"/>
            <p14:sldId id="425"/>
            <p14:sldId id="439"/>
            <p14:sldId id="449"/>
            <p14:sldId id="450"/>
            <p14:sldId id="451"/>
            <p14:sldId id="452"/>
            <p14:sldId id="440"/>
            <p14:sldId id="441"/>
            <p14:sldId id="442"/>
            <p14:sldId id="443"/>
            <p14:sldId id="444"/>
            <p14:sldId id="445"/>
            <p14:sldId id="428"/>
            <p14:sldId id="448"/>
            <p14:sldId id="4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2">
          <p15:clr>
            <a:srgbClr val="A4A3A4"/>
          </p15:clr>
        </p15:guide>
        <p15:guide id="2" orient="horz" pos="2863">
          <p15:clr>
            <a:srgbClr val="A4A3A4"/>
          </p15:clr>
        </p15:guide>
        <p15:guide id="3" orient="horz" pos="813">
          <p15:clr>
            <a:srgbClr val="A4A3A4"/>
          </p15:clr>
        </p15:guide>
        <p15:guide id="4" orient="horz" pos="3118">
          <p15:clr>
            <a:srgbClr val="A4A3A4"/>
          </p15:clr>
        </p15:guide>
        <p15:guide id="5" orient="horz" pos="365">
          <p15:clr>
            <a:srgbClr val="A4A3A4"/>
          </p15:clr>
        </p15:guide>
        <p15:guide id="6" orient="horz" pos="595">
          <p15:clr>
            <a:srgbClr val="A4A3A4"/>
          </p15:clr>
        </p15:guide>
        <p15:guide id="7" pos="2881">
          <p15:clr>
            <a:srgbClr val="A4A3A4"/>
          </p15:clr>
        </p15:guide>
        <p15:guide id="8" pos="293">
          <p15:clr>
            <a:srgbClr val="A4A3A4"/>
          </p15:clr>
        </p15:guide>
        <p15:guide id="9" pos="1394">
          <p15:clr>
            <a:srgbClr val="A4A3A4"/>
          </p15:clr>
        </p15:guide>
        <p15:guide id="10" pos="1303">
          <p15:clr>
            <a:srgbClr val="A4A3A4"/>
          </p15:clr>
        </p15:guide>
        <p15:guide id="11" orient="horz" pos="3096">
          <p15:clr>
            <a:srgbClr val="A4A3A4"/>
          </p15:clr>
        </p15:guide>
        <p15:guide id="12" orient="horz" pos="710">
          <p15:clr>
            <a:srgbClr val="A4A3A4"/>
          </p15:clr>
        </p15:guide>
        <p15:guide id="13" orient="horz" pos="2867">
          <p15:clr>
            <a:srgbClr val="A4A3A4"/>
          </p15:clr>
        </p15:guide>
        <p15:guide id="14" orient="horz" pos="361">
          <p15:clr>
            <a:srgbClr val="A4A3A4"/>
          </p15:clr>
        </p15:guide>
        <p15:guide id="15" pos="15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43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00"/>
    <a:srgbClr val="BE006E"/>
    <a:srgbClr val="005EAD"/>
    <a:srgbClr val="FF3300"/>
    <a:srgbClr val="800000"/>
    <a:srgbClr val="990000"/>
    <a:srgbClr val="FFCC00"/>
    <a:srgbClr val="002F52"/>
    <a:srgbClr val="0037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4" autoAdjust="0"/>
    <p:restoredTop sz="88438" autoAdjust="0"/>
  </p:normalViewPr>
  <p:slideViewPr>
    <p:cSldViewPr snapToGrid="0" showGuides="1">
      <p:cViewPr>
        <p:scale>
          <a:sx n="125" d="100"/>
          <a:sy n="125" d="100"/>
        </p:scale>
        <p:origin x="618" y="168"/>
      </p:cViewPr>
      <p:guideLst>
        <p:guide orient="horz" pos="112"/>
        <p:guide orient="horz" pos="2863"/>
        <p:guide orient="horz" pos="813"/>
        <p:guide orient="horz" pos="3118"/>
        <p:guide orient="horz" pos="365"/>
        <p:guide orient="horz" pos="595"/>
        <p:guide pos="2881"/>
        <p:guide pos="293"/>
        <p:guide pos="1394"/>
        <p:guide pos="1303"/>
        <p:guide orient="horz" pos="3096"/>
        <p:guide orient="horz" pos="710"/>
        <p:guide orient="horz" pos="2867"/>
        <p:guide orient="horz" pos="361"/>
        <p:guide pos="1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-312" y="-112"/>
      </p:cViewPr>
      <p:guideLst>
        <p:guide orient="horz" pos="3043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Times" charset="0"/>
              </a:defRPr>
            </a:lvl1pPr>
          </a:lstStyle>
          <a:p>
            <a:endParaRPr lang="de-DE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8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" charset="0"/>
              </a:defRPr>
            </a:lvl1pPr>
          </a:lstStyle>
          <a:p>
            <a:endParaRPr lang="de-DE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77338"/>
            <a:ext cx="2971800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tx1"/>
                </a:solidFill>
                <a:latin typeface="Times" charset="0"/>
              </a:defRPr>
            </a:lvl1pPr>
          </a:lstStyle>
          <a:p>
            <a:endParaRPr lang="de-DE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177338"/>
            <a:ext cx="2971800" cy="48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" charset="0"/>
              </a:defRPr>
            </a:lvl1pPr>
          </a:lstStyle>
          <a:p>
            <a:fld id="{D54606BC-1185-6343-8CD4-1A7CC7DA3AB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3944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3916363" y="536575"/>
            <a:ext cx="14692313" cy="82661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819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85750" y="8910638"/>
            <a:ext cx="6286500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Textformatierung des Masters zu bearbeiten.</a:t>
            </a:r>
          </a:p>
        </p:txBody>
      </p:sp>
    </p:spTree>
    <p:extLst>
      <p:ext uri="{BB962C8B-B14F-4D97-AF65-F5344CB8AC3E}">
        <p14:creationId xmlns:p14="http://schemas.microsoft.com/office/powerpoint/2010/main" val="16122181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1pPr>
    <a:lvl2pPr marL="457200"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2pPr>
    <a:lvl3pPr marL="914400"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3pPr>
    <a:lvl4pPr marL="1371600"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4pPr>
    <a:lvl5pPr marL="1828800" algn="ctr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yntax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4444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563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9D6AB-E3CF-F200-26F5-0AE72F39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9FFE88-E646-4819-4631-5D623FF59C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2EF32E-6F29-2360-1D86-647555CD9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0467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3B62-1FE6-0480-D24C-F397FB4D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B20D78F-D4D1-42C2-9897-EF1B294A4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ACBD63F-9BC8-2824-6FFD-C73B3FC67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44727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3132D-1136-6C81-03AD-D0361E879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C73A10-8AFD-C12C-2D07-BD2342CF0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A68ED1C-BB6F-C9B2-F31B-43CB8E8BC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2523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B97D-6570-411D-6C39-9B2B971B3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608AD64-9B46-6DDE-C9A5-206A522A1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320240A-29A4-92B5-E8D3-1DD2E11D9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0748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92254-22F6-EF5C-DBD0-619A5162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F63402-087B-0967-BD94-B4597D290D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6BDCCB-8992-FB1A-DD0A-C8381B0B0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9229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72D6-4376-0F63-620B-BB0CCC331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093ED5A-5A14-362F-7A5E-D601440CA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9FE065C-1C51-189C-CFC7-B55BE4912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5758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10577-CF38-9B80-6D20-3323189A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56AED28-6BF0-0DA0-4351-19DD6FBCD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0699B8-2C3C-9F49-151E-8A7D34985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de-DE" dirty="0"/>
              <a:t>Schema</a:t>
            </a:r>
          </a:p>
          <a:p>
            <a:pPr marL="917575" lvl="1" indent="-285750" algn="l">
              <a:buFont typeface="Wingdings" panose="05000000000000000000" pitchFamily="2" charset="2"/>
              <a:buChar char="§"/>
            </a:pPr>
            <a:r>
              <a:rPr lang="de-DE" dirty="0" err="1"/>
              <a:t>flight_no</a:t>
            </a:r>
            <a:endParaRPr lang="de-DE" dirty="0"/>
          </a:p>
          <a:p>
            <a:pPr marL="917575" lvl="1" indent="-285750" algn="l">
              <a:buFont typeface="Wingdings" panose="05000000000000000000" pitchFamily="2" charset="2"/>
              <a:buChar char="§"/>
            </a:pPr>
            <a:r>
              <a:rPr lang="de-DE" dirty="0" err="1"/>
              <a:t>airport_icao</a:t>
            </a:r>
            <a:endParaRPr lang="de-DE" dirty="0"/>
          </a:p>
          <a:p>
            <a:pPr marL="917575" lvl="1" indent="-285750" algn="l">
              <a:buFont typeface="Wingdings" panose="05000000000000000000" pitchFamily="2" charset="2"/>
              <a:buChar char="§"/>
            </a:pPr>
            <a:r>
              <a:rPr lang="de-DE" dirty="0"/>
              <a:t>ISO Zeitstempel mit Zeitzone</a:t>
            </a:r>
          </a:p>
          <a:p>
            <a:pPr marL="917575" lvl="1" indent="-285750" algn="l">
              <a:buFont typeface="Wingdings" panose="05000000000000000000" pitchFamily="2" charset="2"/>
              <a:buChar char="§"/>
            </a:pPr>
            <a:r>
              <a:rPr lang="de-DE" dirty="0" err="1"/>
              <a:t>scheduled_at</a:t>
            </a:r>
            <a:r>
              <a:rPr lang="de-DE" dirty="0"/>
              <a:t> / </a:t>
            </a:r>
            <a:r>
              <a:rPr lang="de-DE" dirty="0" err="1"/>
              <a:t>reported_at</a:t>
            </a:r>
            <a:endParaRPr lang="de-DE" dirty="0"/>
          </a:p>
          <a:p>
            <a:pPr marL="917575" lvl="1" indent="-285750" algn="l">
              <a:buFont typeface="Wingdings" panose="05000000000000000000" pitchFamily="2" charset="2"/>
              <a:buChar char="§"/>
            </a:pPr>
            <a:r>
              <a:rPr lang="de-DE" dirty="0" err="1"/>
              <a:t>status</a:t>
            </a:r>
            <a:endParaRPr lang="de-DE" dirty="0"/>
          </a:p>
          <a:p>
            <a:pPr marL="917575" lvl="1" indent="-285750" algn="l">
              <a:buFont typeface="Wingdings" panose="05000000000000000000" pitchFamily="2" charset="2"/>
              <a:buChar char="§"/>
            </a:pPr>
            <a:r>
              <a:rPr lang="de-DE" dirty="0" err="1"/>
              <a:t>scraped_by</a:t>
            </a:r>
            <a:endParaRPr lang="de-DE" dirty="0"/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8570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7B71-C1E8-58D7-3E26-7396F5A1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4E3B56A-3EDB-EADA-0559-A2AD43F6A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7BE25D-E9FC-0BE6-38FA-91F36619D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49542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97CDE-D246-7AE2-0C0D-E315B6D9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6E2FAD-8674-8015-CE41-E2740B63C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7A78791-B676-E8AE-CEEA-2D7416766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1938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EC3C7-E7F6-BFA3-E203-6230B802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AAD2ED-838E-E29D-24D3-42B35256E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2E3D6D1-FB1A-F54D-468F-C6613A7E0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BER, FRA und MUC zeigen eine weitgehend konstante tägliche Erfassung.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Datenlücken bei CGN, DUS und DTM entstanden durch ausgefallene automatisierte GitHub-Action-Läufe.</a:t>
            </a:r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7390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0F83-7522-CED2-AE0C-284F562DD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F609708-30B4-EC5E-DFC6-352652D6A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717F62A-73F2-2767-89F2-857383168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BER, FRA und MUC zeigen eine weitgehend konstante tägliche Erfassung.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Datenlücken bei CGN, DUS und DTM entstanden durch ausgefallene automatisierte GitHub-Action-Läufe.</a:t>
            </a:r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0665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12E2A-6B57-83C2-A0CC-437086F3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30A25E9-3F2C-734F-D7A3-E28F1D9BF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2C0C124-9170-F280-B9FE-317F139FA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BER, FRA und MUC zeigen eine weitgehend konstante tägliche Erfassung.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Datenlücken bei CGN, DUS und DTM entstanden durch ausgefallene automatisierte GitHub-Action-Läufe.</a:t>
            </a:r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327826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94CDF-C57F-E88D-5CB3-989DCF01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7280C2F-8CA9-6CDA-5A83-442CD1545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AE9761-9754-559A-0B84-368870F69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BER, FRA und MUC zeigen eine weitgehend konstante tägliche Erfassung.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Datenlücken bei CGN, DUS und DTM entstanden durch ausgefallene automatisierte GitHub-Action-Läufe.</a:t>
            </a:r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1023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B7DAC-E82D-E303-674E-C1269E7FF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BDF017E-26FB-7553-8703-824ECDE4B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07A11A0-4C2D-2110-4FA1-ADD8AE4C9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BER, FRA und MUC zeigen eine weitgehend konstante tägliche Erfassung.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de-DE" dirty="0"/>
              <a:t>Datenlücken bei CGN, DUS und DTM entstanden durch ausgefallene automatisierte GitHub-Action-Läufe.</a:t>
            </a:r>
          </a:p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3932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DC625-776D-F9B1-432C-FE3C1A8F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4741ADA-8A94-4554-734A-AE56080FB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46202A-AEC2-B189-CCE0-61E5CFE35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59278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6A3D-26FF-B8AF-863F-8099FFAE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68FF412-433F-66D4-689D-359666FBA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C39A3DF-3668-882F-0AF4-676C3D394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3573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DEB54-F974-9A01-42D1-C2C126877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96653C8-8385-FF52-2EF2-356FE970A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C162BE1-DE55-82ED-4242-10165A0ED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5613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B9D7-4B3E-D6EC-D2F7-4E60DA5A5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AB8E311-3482-0059-FE2F-1C8459580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5258B15-429B-E3E5-2245-4176329DD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4039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4F31A-C356-36A6-5203-9EB4363CC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28ABF61-60EB-0356-0BDA-9988A4D08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1C04AF-7E8C-CCEC-9B91-E5B90B32F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5239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B719-5AFC-DDE6-5BC0-F4C632A55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9F6C29A-31CC-1E2D-D66A-EDF8C1CF5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F43560-C43A-EEF9-D6EC-F256460EB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0795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DA2E1-2DDE-25CA-C37B-77505EE7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F295E47-A493-D726-C4F1-D8297CE15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0C81581-E5FA-87CF-0854-F4F1A14D3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5582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138C1-E214-76C2-3BCF-9A5D2167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BF18D06-F3B0-E95B-78D9-A388FEE91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506A80B-9404-6B21-A88E-12AAE43D5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04575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0204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6"/>
          <p:cNvSpPr>
            <a:spLocks noGrp="1"/>
          </p:cNvSpPr>
          <p:nvPr>
            <p:ph type="pic" sz="quarter" idx="11"/>
          </p:nvPr>
        </p:nvSpPr>
        <p:spPr>
          <a:xfrm>
            <a:off x="0" y="971447"/>
            <a:ext cx="9144000" cy="3215456"/>
          </a:xfrm>
          <a:prstGeom prst="rect">
            <a:avLst/>
          </a:prstGeom>
        </p:spPr>
        <p:txBody>
          <a:bodyPr vert="horz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0" name="Bild 9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892" y="4280416"/>
            <a:ext cx="1966296" cy="722312"/>
          </a:xfrm>
          <a:prstGeom prst="rect">
            <a:avLst/>
          </a:prstGeom>
        </p:spPr>
      </p:pic>
      <p:pic>
        <p:nvPicPr>
          <p:cNvPr id="11" name="Bild 10" descr="Claim-RGB.ai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8" y="4636051"/>
            <a:ext cx="1269759" cy="278849"/>
          </a:xfrm>
          <a:prstGeom prst="rect">
            <a:avLst/>
          </a:prstGeom>
        </p:spPr>
      </p:pic>
      <p:sp>
        <p:nvSpPr>
          <p:cNvPr id="12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3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950913"/>
            <a:ext cx="9144000" cy="3600450"/>
          </a:xfrm>
          <a:prstGeom prst="rect">
            <a:avLst/>
          </a:prstGeom>
          <a:solidFill>
            <a:schemeClr val="accent5"/>
          </a:solidFill>
          <a:ln w="1270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13" name="Inhaltsplatzhalter 2"/>
          <p:cNvSpPr>
            <a:spLocks noGrp="1"/>
          </p:cNvSpPr>
          <p:nvPr>
            <p:ph idx="1"/>
          </p:nvPr>
        </p:nvSpPr>
        <p:spPr>
          <a:xfrm>
            <a:off x="249238" y="1127125"/>
            <a:ext cx="8648699" cy="3424238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928897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950913"/>
            <a:ext cx="9144000" cy="3600450"/>
          </a:xfrm>
          <a:prstGeom prst="rect">
            <a:avLst/>
          </a:prstGeom>
          <a:solidFill>
            <a:schemeClr val="accent5"/>
          </a:solidFill>
          <a:ln w="1270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19" name="Inhaltsplatzhalter 2"/>
          <p:cNvSpPr>
            <a:spLocks noGrp="1"/>
          </p:cNvSpPr>
          <p:nvPr>
            <p:ph idx="1"/>
          </p:nvPr>
        </p:nvSpPr>
        <p:spPr>
          <a:xfrm>
            <a:off x="4796401" y="1127125"/>
            <a:ext cx="4083050" cy="3424238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0" name="Inhaltsplatzhalter 2"/>
          <p:cNvSpPr>
            <a:spLocks noGrp="1"/>
          </p:cNvSpPr>
          <p:nvPr>
            <p:ph idx="12"/>
          </p:nvPr>
        </p:nvSpPr>
        <p:spPr>
          <a:xfrm>
            <a:off x="249238" y="1127125"/>
            <a:ext cx="4083050" cy="3424238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135309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t 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950913"/>
            <a:ext cx="9144000" cy="3600450"/>
          </a:xfrm>
          <a:prstGeom prst="rect">
            <a:avLst/>
          </a:prstGeom>
          <a:solidFill>
            <a:schemeClr val="accent5"/>
          </a:solidFill>
          <a:ln w="1270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9" name="Textplatzhalter 3" title="Test"/>
          <p:cNvSpPr>
            <a:spLocks noGrp="1"/>
          </p:cNvSpPr>
          <p:nvPr>
            <p:ph type="body" sz="quarter" idx="12" hasCustomPrompt="1"/>
          </p:nvPr>
        </p:nvSpPr>
        <p:spPr>
          <a:xfrm>
            <a:off x="249238" y="1127125"/>
            <a:ext cx="8639175" cy="24939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6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Abschnittsüberschrift (Arial 16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10" name="Inhaltsplatzhalter 2"/>
          <p:cNvSpPr>
            <a:spLocks noGrp="1"/>
          </p:cNvSpPr>
          <p:nvPr>
            <p:ph idx="14"/>
          </p:nvPr>
        </p:nvSpPr>
        <p:spPr>
          <a:xfrm>
            <a:off x="249238" y="1493838"/>
            <a:ext cx="8640506" cy="3057525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172777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ig mit 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auto">
          <a:xfrm>
            <a:off x="0" y="950913"/>
            <a:ext cx="9144000" cy="3600450"/>
          </a:xfrm>
          <a:prstGeom prst="rect">
            <a:avLst/>
          </a:prstGeom>
          <a:solidFill>
            <a:schemeClr val="accent5"/>
          </a:solidFill>
          <a:ln w="1270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13" name="Inhaltsplatzhalter 2"/>
          <p:cNvSpPr>
            <a:spLocks noGrp="1"/>
          </p:cNvSpPr>
          <p:nvPr>
            <p:ph idx="13"/>
          </p:nvPr>
        </p:nvSpPr>
        <p:spPr>
          <a:xfrm>
            <a:off x="4825416" y="1489076"/>
            <a:ext cx="4081885" cy="3062288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0" name="Textplatzhalter 3" title="Test"/>
          <p:cNvSpPr>
            <a:spLocks noGrp="1"/>
          </p:cNvSpPr>
          <p:nvPr>
            <p:ph type="body" sz="quarter" idx="12" hasCustomPrompt="1"/>
          </p:nvPr>
        </p:nvSpPr>
        <p:spPr>
          <a:xfrm>
            <a:off x="249238" y="1127125"/>
            <a:ext cx="8639175" cy="249391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6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Abschnittsüberschrift (Arial 16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sp>
        <p:nvSpPr>
          <p:cNvPr id="21" name="Inhaltsplatzhalter 2"/>
          <p:cNvSpPr>
            <a:spLocks noGrp="1"/>
          </p:cNvSpPr>
          <p:nvPr>
            <p:ph idx="15"/>
          </p:nvPr>
        </p:nvSpPr>
        <p:spPr>
          <a:xfrm>
            <a:off x="249238" y="1493838"/>
            <a:ext cx="4104299" cy="3057525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rgbClr val="005EAD"/>
              </a:buClr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706108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 13" descr="FH-SWF_Logo-RGB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311" y="4581115"/>
            <a:ext cx="1061911" cy="390090"/>
          </a:xfrm>
          <a:prstGeom prst="rect">
            <a:avLst/>
          </a:prstGeom>
        </p:spPr>
      </p:pic>
      <p:sp>
        <p:nvSpPr>
          <p:cNvPr id="15" name="Text Box 149"/>
          <p:cNvSpPr txBox="1">
            <a:spLocks noChangeArrowheads="1"/>
          </p:cNvSpPr>
          <p:nvPr userDrawn="1"/>
        </p:nvSpPr>
        <p:spPr bwMode="auto">
          <a:xfrm>
            <a:off x="241300" y="4791639"/>
            <a:ext cx="6820207" cy="121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de-DE" sz="800" dirty="0">
                <a:solidFill>
                  <a:schemeClr val="tx1"/>
                </a:solidFill>
              </a:rPr>
              <a:t>Folie </a:t>
            </a:r>
            <a:fld id="{44BA279E-E9BC-D743-974C-EFE8A41952FB}" type="slidenum">
              <a:rPr lang="de-DE" sz="800" smtClean="0">
                <a:solidFill>
                  <a:schemeClr val="tx1"/>
                </a:solidFill>
              </a:rPr>
              <a:pPr algn="l">
                <a:spcBef>
                  <a:spcPct val="50000"/>
                </a:spcBef>
              </a:pPr>
              <a:t>‹Nr.›</a:t>
            </a:fld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300" y="4645742"/>
            <a:ext cx="6829732" cy="13929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0" tIns="0" rIns="0" bIns="0">
            <a:noAutofit/>
          </a:bodyPr>
          <a:lstStyle>
            <a:lvl1pPr>
              <a:defRPr lang="de-DE" sz="800" dirty="0">
                <a:solidFill>
                  <a:schemeClr val="tx1"/>
                </a:solidFill>
              </a:defRPr>
            </a:lvl1pPr>
          </a:lstStyle>
          <a:p>
            <a:pPr algn="l"/>
            <a:r>
              <a:rPr lang="de-DE" dirty="0"/>
              <a:t>Autor (4/2022)</a:t>
            </a:r>
          </a:p>
        </p:txBody>
      </p:sp>
      <p:sp>
        <p:nvSpPr>
          <p:cNvPr id="17" name="Titel 6"/>
          <p:cNvSpPr>
            <a:spLocks noGrp="1"/>
          </p:cNvSpPr>
          <p:nvPr>
            <p:ph type="title" hasCustomPrompt="1"/>
          </p:nvPr>
        </p:nvSpPr>
        <p:spPr>
          <a:xfrm>
            <a:off x="249238" y="177800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>
              <a:defRPr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Headline (Arial 24 Pt, </a:t>
            </a:r>
            <a:r>
              <a:rPr lang="de-DE" dirty="0" err="1">
                <a:solidFill>
                  <a:schemeClr val="tx2"/>
                </a:solidFill>
                <a:latin typeface="Arial"/>
                <a:cs typeface="Arial"/>
              </a:rPr>
              <a:t>Bold</a:t>
            </a:r>
            <a:r>
              <a:rPr lang="de-DE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18" name="Textplatzhalter 3" title="Test"/>
          <p:cNvSpPr>
            <a:spLocks noGrp="1"/>
          </p:cNvSpPr>
          <p:nvPr>
            <p:ph type="body" sz="quarter" idx="10" hasCustomPrompt="1"/>
          </p:nvPr>
        </p:nvSpPr>
        <p:spPr>
          <a:xfrm>
            <a:off x="249238" y="573087"/>
            <a:ext cx="8639175" cy="385557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 sz="1800" b="1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SzTx/>
              <a:buFont typeface="Wingdings" charset="0"/>
              <a:buNone/>
              <a:tabLst/>
              <a:defRPr/>
            </a:pPr>
            <a:r>
              <a:rPr lang="de-DE" dirty="0"/>
              <a:t>Subheadline (Arial 18 Pt,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0"/>
            <a:endParaRPr lang="de-DE" dirty="0"/>
          </a:p>
        </p:txBody>
      </p:sp>
      <p:cxnSp>
        <p:nvCxnSpPr>
          <p:cNvPr id="9" name="Gerade Verbindung 8"/>
          <p:cNvCxnSpPr/>
          <p:nvPr userDrawn="1"/>
        </p:nvCxnSpPr>
        <p:spPr bwMode="auto">
          <a:xfrm>
            <a:off x="0" y="934955"/>
            <a:ext cx="4575175" cy="0"/>
          </a:xfrm>
          <a:prstGeom prst="line">
            <a:avLst/>
          </a:prstGeom>
          <a:noFill/>
          <a:ln w="38100" cap="rnd" cmpd="sng" algn="ctr">
            <a:solidFill>
              <a:srgbClr val="BE006E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249238" y="1127125"/>
            <a:ext cx="8648699" cy="34242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rgbClr val="005EAD"/>
              </a:buClr>
              <a:buNone/>
              <a:defRPr/>
            </a:lvl1pPr>
            <a:lvl2pPr marL="631825" indent="-180975"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090283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</p:sldLayoutIdLst>
  <p:transition>
    <p:fade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5EAD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ea typeface="ＭＳ Ｐゴシック" charset="0"/>
        </a:defRPr>
      </a:lvl9pPr>
    </p:titleStyle>
    <p:bodyStyle>
      <a:lvl1pPr marL="188913" indent="-188913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defRPr sz="1600">
          <a:solidFill>
            <a:schemeClr val="tx1"/>
          </a:solidFill>
          <a:latin typeface="Arial"/>
          <a:ea typeface="+mn-ea"/>
          <a:cs typeface="Arial"/>
        </a:defRPr>
      </a:lvl1pPr>
      <a:lvl2pPr marL="665163" indent="-285750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defRPr sz="1600">
          <a:solidFill>
            <a:schemeClr val="tx1"/>
          </a:solidFill>
          <a:latin typeface="Arial"/>
          <a:ea typeface="+mn-ea"/>
          <a:cs typeface="Arial"/>
        </a:defRPr>
      </a:lvl2pPr>
      <a:lvl3pPr marL="1084263" indent="-228600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defRPr sz="1600">
          <a:solidFill>
            <a:schemeClr val="tx1"/>
          </a:solidFill>
          <a:latin typeface="Arial"/>
          <a:ea typeface="+mn-ea"/>
          <a:cs typeface="Arial"/>
        </a:defRPr>
      </a:lvl3pPr>
      <a:lvl4pPr marL="1503363" indent="-228600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tabLst/>
        <a:defRPr sz="1600">
          <a:solidFill>
            <a:schemeClr val="tx1"/>
          </a:solidFill>
          <a:latin typeface="Arial"/>
          <a:ea typeface="+mn-ea"/>
          <a:cs typeface="Arial"/>
        </a:defRPr>
      </a:lvl4pPr>
      <a:lvl5pPr marL="1922463" indent="-228600" algn="l" rtl="0" eaLnBrk="1" fontAlgn="base" hangingPunct="1">
        <a:spcBef>
          <a:spcPct val="0"/>
        </a:spcBef>
        <a:spcAft>
          <a:spcPct val="30000"/>
        </a:spcAft>
        <a:buClr>
          <a:srgbClr val="005EAD"/>
        </a:buClr>
        <a:buFont typeface="Wingdings" charset="0"/>
        <a:buChar char="§"/>
        <a:defRPr sz="1600">
          <a:solidFill>
            <a:schemeClr val="tx1"/>
          </a:solidFill>
          <a:latin typeface="Arial"/>
          <a:ea typeface="+mn-ea"/>
          <a:cs typeface="Arial"/>
        </a:defRPr>
      </a:lvl5pPr>
      <a:lvl6pPr marL="2379663" indent="-228600" algn="l" rtl="0" eaLnBrk="1" fontAlgn="base" hangingPunct="1">
        <a:spcBef>
          <a:spcPct val="0"/>
        </a:spcBef>
        <a:spcAft>
          <a:spcPct val="30000"/>
        </a:spcAft>
        <a:buClr>
          <a:srgbClr val="00377D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6pPr>
      <a:lvl7pPr marL="2836863" indent="-228600" algn="l" rtl="0" eaLnBrk="1" fontAlgn="base" hangingPunct="1">
        <a:spcBef>
          <a:spcPct val="0"/>
        </a:spcBef>
        <a:spcAft>
          <a:spcPct val="30000"/>
        </a:spcAft>
        <a:buClr>
          <a:srgbClr val="00377D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7pPr>
      <a:lvl8pPr marL="3294063" indent="-228600" algn="l" rtl="0" eaLnBrk="1" fontAlgn="base" hangingPunct="1">
        <a:spcBef>
          <a:spcPct val="0"/>
        </a:spcBef>
        <a:spcAft>
          <a:spcPct val="30000"/>
        </a:spcAft>
        <a:buClr>
          <a:srgbClr val="00377D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8pPr>
      <a:lvl9pPr marL="3751263" indent="-228600" algn="l" rtl="0" eaLnBrk="1" fontAlgn="base" hangingPunct="1">
        <a:spcBef>
          <a:spcPct val="0"/>
        </a:spcBef>
        <a:spcAft>
          <a:spcPct val="30000"/>
        </a:spcAft>
        <a:buClr>
          <a:srgbClr val="00377D"/>
        </a:buClr>
        <a:buFont typeface="Wingdings" charset="0"/>
        <a:buChar char="§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241804" y="66908"/>
            <a:ext cx="8638960" cy="819900"/>
          </a:xfrm>
        </p:spPr>
        <p:txBody>
          <a:bodyPr/>
          <a:lstStyle/>
          <a:p>
            <a:r>
              <a:rPr lang="de-DE" dirty="0"/>
              <a:t>Web-basierte Analyse von Airline- und Flughafendaten durch automatisiertes Web-Scraping - Web Mining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256672" y="4233337"/>
            <a:ext cx="4858236" cy="385557"/>
          </a:xfrm>
        </p:spPr>
        <p:txBody>
          <a:bodyPr/>
          <a:lstStyle/>
          <a:p>
            <a:r>
              <a:rPr lang="de-DE" sz="1400" i="1" dirty="0">
                <a:solidFill>
                  <a:schemeClr val="bg1">
                    <a:lumMod val="50000"/>
                  </a:schemeClr>
                </a:solidFill>
              </a:rPr>
              <a:t>Kevin Cioch, Cihan Wiatrowski </a:t>
            </a:r>
          </a:p>
        </p:txBody>
      </p:sp>
      <p:pic>
        <p:nvPicPr>
          <p:cNvPr id="6" name="Bild 5" descr="shutterstock_730562770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32" b="21685"/>
          <a:stretch/>
        </p:blipFill>
        <p:spPr>
          <a:xfrm>
            <a:off x="0" y="950912"/>
            <a:ext cx="9162000" cy="3248057"/>
          </a:xfrm>
          <a:prstGeom prst="rect">
            <a:avLst/>
          </a:prstGeom>
        </p:spPr>
      </p:pic>
      <p:cxnSp>
        <p:nvCxnSpPr>
          <p:cNvPr id="7" name="Gerade Verbindung 6"/>
          <p:cNvCxnSpPr/>
          <p:nvPr/>
        </p:nvCxnSpPr>
        <p:spPr bwMode="auto">
          <a:xfrm>
            <a:off x="0" y="4179600"/>
            <a:ext cx="4575175" cy="0"/>
          </a:xfrm>
          <a:prstGeom prst="line">
            <a:avLst/>
          </a:prstGeom>
          <a:noFill/>
          <a:ln w="38100" cap="rnd" cmpd="sng" algn="ctr">
            <a:solidFill>
              <a:srgbClr val="B0046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Google Shape;88;p13">
            <a:extLst>
              <a:ext uri="{FF2B5EF4-FFF2-40B4-BE49-F238E27FC236}">
                <a16:creationId xmlns:a16="http://schemas.microsoft.com/office/drawing/2014/main" id="{229F44EC-DCC0-D615-7331-69505FEDDD41}"/>
              </a:ext>
            </a:extLst>
          </p:cNvPr>
          <p:cNvPicPr preferRelativeResize="0"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286954" y="4219504"/>
            <a:ext cx="1286954" cy="81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464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 0.19414 L 0.2 0.18611 C 0.2 0.02685 0.46267 -0.16852 0.67621 -0.16852 L 1.15364 -0.16852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674" y="-1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4B810-553C-906F-B820-985F04B9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77" y="519065"/>
            <a:ext cx="8638960" cy="336550"/>
          </a:xfrm>
        </p:spPr>
        <p:txBody>
          <a:bodyPr/>
          <a:lstStyle/>
          <a:p>
            <a:r>
              <a:rPr lang="de" dirty="0"/>
              <a:t>Inhaltsverzeichnis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EFE9396-993B-4D86-C01A-9AB505F52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Projektidee und Zielsetzung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Datenquellen und Aufgabeneinteilung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Scraping der offiziellen Flughafenseiten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 err="1"/>
              <a:t>FlightAware</a:t>
            </a:r>
            <a:r>
              <a:rPr lang="de-DE" sz="1450" dirty="0"/>
              <a:t>-Scraping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Gemeinsame Datenpipeline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Datenbank-Struktur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Automatisierung über CRON-Jobs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Architektur und Design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Analysen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Live-Demo Webanwendung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Schwierigkeiten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50" dirty="0"/>
              <a:t>Fazit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953EE9-D86A-B742-BBF6-FC70229E4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958730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56980-DC79-4247-B078-6CFC1BD8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9F33EB-30B7-0FDB-3B2E-E9ED408554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14682E1-A818-D99E-CDD3-719BFC5E8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Web-Mining-Projekt zur Erfassung Flugdaten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Kombination aus Flughafen-Stammdaten und aktuellen Flugbewegungen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Automatische Erfassung zentral bereitgestellter Luftverkehrsdaten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Ziele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Analyse von Verspätungen, Ausfällen und Flugaufkommen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Interaktive Darstellung von Flughäfen auf einer Karte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6B40067-F355-85D0-49EA-5DC28D16CB8A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Projektidee und Zielsetzung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141541865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86912-1C89-137B-CA3B-5EBA8AF9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DA469C-1EE5-DF14-C708-EA4391EDAA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0FE2203-7E4A-E7E5-860A-F2C53FA39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238" y="1127125"/>
            <a:ext cx="2538567" cy="3424238"/>
          </a:xfrm>
        </p:spPr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u="sng" dirty="0"/>
              <a:t>Cihan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Berlin (BER)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Frankfurt (FRA)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München (MUC)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 Flughafenwebseiten</a:t>
            </a: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DDF7A5D-A7A1-FC6E-A3AC-B7B01A3E4063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Datenquellen und Aufgabeneinteilung</a:t>
            </a:r>
            <a:endParaRPr lang="de-DE" kern="0" dirty="0"/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E1432693-E5D8-2A64-8A79-B3A5BF6D0E42}"/>
              </a:ext>
            </a:extLst>
          </p:cNvPr>
          <p:cNvSpPr txBox="1">
            <a:spLocks/>
          </p:cNvSpPr>
          <p:nvPr/>
        </p:nvSpPr>
        <p:spPr>
          <a:xfrm>
            <a:off x="4497162" y="1127125"/>
            <a:ext cx="2330411" cy="342423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Font typeface="Wingdings" charset="0"/>
              <a:buNone/>
              <a:defRPr sz="16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631825" indent="-180975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Font typeface="Wingdings" charset="0"/>
              <a:buChar char="§"/>
              <a:defRPr sz="16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084263" indent="-2286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Font typeface="Wingdings" charset="0"/>
              <a:buChar char="§"/>
              <a:defRPr sz="16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503363" indent="-2286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Font typeface="Wingdings" charset="0"/>
              <a:buChar char="§"/>
              <a:tabLst/>
              <a:defRPr sz="16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1922463" indent="-2286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5EAD"/>
              </a:buClr>
              <a:buFont typeface="Wingdings" charset="0"/>
              <a:buChar char="§"/>
              <a:defRPr sz="16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379663" indent="-2286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377D"/>
              </a:buClr>
              <a:buFont typeface="Wingdings" charset="0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836863" indent="-2286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377D"/>
              </a:buClr>
              <a:buFont typeface="Wingdings" charset="0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294063" indent="-2286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377D"/>
              </a:buClr>
              <a:buFont typeface="Wingdings" charset="0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751263" indent="-228600" algn="l" rtl="0" eaLnBrk="1" fontAlgn="base" hangingPunct="1">
              <a:spcBef>
                <a:spcPct val="0"/>
              </a:spcBef>
              <a:spcAft>
                <a:spcPct val="30000"/>
              </a:spcAft>
              <a:buClr>
                <a:srgbClr val="00377D"/>
              </a:buClr>
              <a:buFont typeface="Wingdings" charset="0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u="sng" kern="0" dirty="0"/>
              <a:t>Kevin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kern="0" dirty="0"/>
              <a:t>Köln/Bonn (CGN)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kern="0" dirty="0"/>
              <a:t>Düsseldorf (DUS)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kern="0" dirty="0"/>
              <a:t>Dortmund (DTM)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kern="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kern="0" dirty="0">
                <a:sym typeface="Wingdings" panose="05000000000000000000" pitchFamily="2" charset="2"/>
              </a:rPr>
              <a:t> </a:t>
            </a:r>
            <a:r>
              <a:rPr lang="de-DE" kern="0" dirty="0" err="1">
                <a:sym typeface="Wingdings" panose="05000000000000000000" pitchFamily="2" charset="2"/>
              </a:rPr>
              <a:t>FlightAware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311738185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D2E5-DF40-2542-F11E-6E9DB393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BE96C9-B794-D3F1-35F4-424DAC2E01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7DD5EA8-984B-7A00-5AC7-C1A8F589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3 Flughäfen erfordern drei unterschiedliche Spider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Berlin</a:t>
            </a:r>
            <a:endParaRPr lang="de-DE" sz="1400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Offizieller JSON-Endpunkt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Seitenweise Abfrage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Eindeutige Flug-ID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Plan- und Prognosezeiten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Frankfurt</a:t>
            </a:r>
            <a:endParaRPr lang="de-DE" sz="1400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Offizieller JSON-Endpunkt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Eigene </a:t>
            </a:r>
            <a:r>
              <a:rPr lang="de-DE" sz="1400" dirty="0" err="1"/>
              <a:t>Pagination</a:t>
            </a:r>
            <a:endParaRPr lang="de-DE" sz="1400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Filterung von </a:t>
            </a:r>
            <a:r>
              <a:rPr lang="de-DE" sz="1400" dirty="0" err="1"/>
              <a:t>AIRail</a:t>
            </a:r>
            <a:r>
              <a:rPr lang="de-DE" sz="1400" dirty="0"/>
              <a:t>-Verbindungen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E326202D-B4E9-B588-B51F-FFE2232A3CEC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Scraping der offiziellen Flughafenseiten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359916532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42A9-C6E9-6161-42BD-AAC105BC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13449B-CDA2-E2C6-0E7F-C96AC16065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612CED0-1613-E972-8E7B-D1EAD8FD2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3 Flughäfen erfordern drei unterschiedliche Spider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München</a:t>
            </a:r>
            <a:endParaRPr lang="de-DE" sz="1400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HTML-Flugplantabelle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Scraping mit CSS-Selektoren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sz="1400" dirty="0"/>
              <a:t>Seitenweise Erfassung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53AEA7D-23E0-3B2A-005F-1D8987EBD687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Scraping der offiziellen Flughafenseiten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15925451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B5CD3-3CC0-9E95-A7CA-E116FA18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EF50CB-4D9B-2436-5F36-DF3A4FD81C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50D5584-8F4F-5F6B-060B-1A82980E4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Dynamische </a:t>
            </a:r>
            <a:r>
              <a:rPr lang="de-DE" dirty="0" err="1"/>
              <a:t>FlightAware</a:t>
            </a:r>
            <a:r>
              <a:rPr lang="de-DE" dirty="0"/>
              <a:t>-Seiten benötigen Browserautomatisierung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FlightAware</a:t>
            </a:r>
            <a:r>
              <a:rPr lang="de-DE" dirty="0"/>
              <a:t>-Flugtafel Aufruf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Playwright</a:t>
            </a:r>
            <a:r>
              <a:rPr lang="de-DE" dirty="0"/>
              <a:t> lädt dynamische Inhalte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BeautifulSoup</a:t>
            </a:r>
            <a:r>
              <a:rPr lang="de-DE" dirty="0"/>
              <a:t> liest Flugzeilen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Detailseiten liefern zusätzliche Zeiten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Speicherung in </a:t>
            </a:r>
            <a:r>
              <a:rPr lang="de-DE" dirty="0" err="1"/>
              <a:t>Supabase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60CBE72-83E1-1DC7-2E9F-6CDD7DC842A4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FlightAware-Scraping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52063039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26EF1-1C19-BF10-2AFF-35A74150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C15055-CFD0-380D-8E59-8126018C95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5736DC6-ABC0-48D7-F78E-500384F85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B5F3F70-A712-43D5-0749-B26D1623DB44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Gemeinsame Datenpipeline</a:t>
            </a:r>
            <a:endParaRPr lang="de-DE" kern="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1C9F328-1B02-4995-4488-42B6C40D62B8}"/>
              </a:ext>
            </a:extLst>
          </p:cNvPr>
          <p:cNvSpPr/>
          <p:nvPr/>
        </p:nvSpPr>
        <p:spPr bwMode="auto">
          <a:xfrm>
            <a:off x="339567" y="2039126"/>
            <a:ext cx="3587430" cy="369332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Zyte</a:t>
            </a: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 </a:t>
            </a:r>
            <a:r>
              <a:rPr kumimoji="0" lang="de-D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Scrapy</a:t>
            </a: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 Cloud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9ADA681-4722-65DE-74D8-380399E06D09}"/>
              </a:ext>
            </a:extLst>
          </p:cNvPr>
          <p:cNvSpPr/>
          <p:nvPr/>
        </p:nvSpPr>
        <p:spPr bwMode="auto">
          <a:xfrm>
            <a:off x="339567" y="1405513"/>
            <a:ext cx="1059180" cy="246221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FRA-Spider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5EADE04-E689-D0CF-5C27-519DBEC9B20D}"/>
              </a:ext>
            </a:extLst>
          </p:cNvPr>
          <p:cNvSpPr/>
          <p:nvPr/>
        </p:nvSpPr>
        <p:spPr bwMode="auto">
          <a:xfrm>
            <a:off x="1526221" y="1405512"/>
            <a:ext cx="1123793" cy="246221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BER-Spider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F991CBC-4190-1B9B-9098-B2C50125F903}"/>
              </a:ext>
            </a:extLst>
          </p:cNvPr>
          <p:cNvSpPr/>
          <p:nvPr/>
        </p:nvSpPr>
        <p:spPr bwMode="auto">
          <a:xfrm>
            <a:off x="2757166" y="1401324"/>
            <a:ext cx="1169831" cy="246221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MUC-Spider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EA7F44E-3CBE-10DB-71CC-A989A5929C27}"/>
              </a:ext>
            </a:extLst>
          </p:cNvPr>
          <p:cNvSpPr/>
          <p:nvPr/>
        </p:nvSpPr>
        <p:spPr bwMode="auto">
          <a:xfrm>
            <a:off x="5852238" y="1409890"/>
            <a:ext cx="2436707" cy="246221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FlightAware</a:t>
            </a:r>
            <a:r>
              <a:rPr lang="de-DE" sz="16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-</a:t>
            </a: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Spider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F45BF69-ABC6-A102-71E2-8A976E63B4D6}"/>
              </a:ext>
            </a:extLst>
          </p:cNvPr>
          <p:cNvSpPr/>
          <p:nvPr/>
        </p:nvSpPr>
        <p:spPr bwMode="auto">
          <a:xfrm>
            <a:off x="864870" y="2747636"/>
            <a:ext cx="2061210" cy="369332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GitHub Action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4502BFC-9452-BBFB-EA5A-7FD740A0B8E1}"/>
              </a:ext>
            </a:extLst>
          </p:cNvPr>
          <p:cNvSpPr/>
          <p:nvPr/>
        </p:nvSpPr>
        <p:spPr bwMode="auto">
          <a:xfrm>
            <a:off x="2481474" y="3860911"/>
            <a:ext cx="4174701" cy="369332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Supabase</a:t>
            </a:r>
            <a:endParaRPr kumimoji="0" lang="de-DE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2F7F9D8-F3D2-F9D0-9BC3-D0F4282BB7D6}"/>
              </a:ext>
            </a:extLst>
          </p:cNvPr>
          <p:cNvSpPr/>
          <p:nvPr/>
        </p:nvSpPr>
        <p:spPr bwMode="auto">
          <a:xfrm>
            <a:off x="5887449" y="2004048"/>
            <a:ext cx="2436708" cy="246221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Playwirght</a:t>
            </a:r>
            <a:r>
              <a:rPr kumimoji="0" lang="de-D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 + </a:t>
            </a:r>
            <a:r>
              <a:rPr kumimoji="0" lang="de-DE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BeautifulSoup</a:t>
            </a:r>
            <a:endParaRPr kumimoji="0" lang="de-D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F2DF04A-D8F4-27DD-4B41-ECD7BD0EC77B}"/>
              </a:ext>
            </a:extLst>
          </p:cNvPr>
          <p:cNvSpPr/>
          <p:nvPr/>
        </p:nvSpPr>
        <p:spPr bwMode="auto">
          <a:xfrm>
            <a:off x="2481474" y="4503150"/>
            <a:ext cx="4174701" cy="369332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Analyse und Webanwendung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0CB9D20-B086-774B-A619-9F11C7F3A24A}"/>
              </a:ext>
            </a:extLst>
          </p:cNvPr>
          <p:cNvSpPr/>
          <p:nvPr/>
        </p:nvSpPr>
        <p:spPr bwMode="auto">
          <a:xfrm>
            <a:off x="6075198" y="2654578"/>
            <a:ext cx="2061210" cy="369332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rPr>
              <a:t>GitHub Action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6C86F238-F9B5-520E-4308-D5362FC71A27}"/>
              </a:ext>
            </a:extLst>
          </p:cNvPr>
          <p:cNvCxnSpPr>
            <a:cxnSpLocks/>
            <a:stCxn id="7" idx="2"/>
          </p:cNvCxnSpPr>
          <p:nvPr/>
        </p:nvCxnSpPr>
        <p:spPr bwMode="auto">
          <a:xfrm flipH="1">
            <a:off x="864870" y="1651734"/>
            <a:ext cx="4287" cy="405737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4BE66293-B842-A6CE-46DF-2D722BA1CE01}"/>
              </a:ext>
            </a:extLst>
          </p:cNvPr>
          <p:cNvCxnSpPr>
            <a:cxnSpLocks/>
            <a:stCxn id="9" idx="2"/>
          </p:cNvCxnSpPr>
          <p:nvPr/>
        </p:nvCxnSpPr>
        <p:spPr bwMode="auto">
          <a:xfrm flipH="1">
            <a:off x="2087880" y="1651733"/>
            <a:ext cx="238" cy="436147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61396BA8-3D99-EBC2-6253-F04EA8E4708C}"/>
              </a:ext>
            </a:extLst>
          </p:cNvPr>
          <p:cNvCxnSpPr>
            <a:stCxn id="11" idx="2"/>
          </p:cNvCxnSpPr>
          <p:nvPr/>
        </p:nvCxnSpPr>
        <p:spPr bwMode="auto">
          <a:xfrm flipH="1">
            <a:off x="3337560" y="1647545"/>
            <a:ext cx="4522" cy="391581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B881558F-2DCE-5C7D-BFBE-A34C75ECB86D}"/>
              </a:ext>
            </a:extLst>
          </p:cNvPr>
          <p:cNvCxnSpPr>
            <a:cxnSpLocks/>
          </p:cNvCxnSpPr>
          <p:nvPr/>
        </p:nvCxnSpPr>
        <p:spPr bwMode="auto">
          <a:xfrm>
            <a:off x="2087880" y="2423160"/>
            <a:ext cx="0" cy="324476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B0CE9414-1085-6718-30CA-0B031BA84E97}"/>
              </a:ext>
            </a:extLst>
          </p:cNvPr>
          <p:cNvCxnSpPr>
            <a:cxnSpLocks/>
            <a:stCxn id="15" idx="2"/>
          </p:cNvCxnSpPr>
          <p:nvPr/>
        </p:nvCxnSpPr>
        <p:spPr bwMode="auto">
          <a:xfrm>
            <a:off x="7070592" y="1656111"/>
            <a:ext cx="768" cy="347949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3E6ED3D7-D97C-975A-07E1-57FA3919E930}"/>
              </a:ext>
            </a:extLst>
          </p:cNvPr>
          <p:cNvCxnSpPr>
            <a:stCxn id="21" idx="2"/>
            <a:endCxn id="27" idx="0"/>
          </p:cNvCxnSpPr>
          <p:nvPr/>
        </p:nvCxnSpPr>
        <p:spPr bwMode="auto">
          <a:xfrm>
            <a:off x="7105803" y="2250269"/>
            <a:ext cx="0" cy="404309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7CF0010A-BAD5-012A-A76F-4AB1549DCEC2}"/>
              </a:ext>
            </a:extLst>
          </p:cNvPr>
          <p:cNvCxnSpPr>
            <a:stCxn id="17" idx="2"/>
            <a:endCxn id="19" idx="0"/>
          </p:cNvCxnSpPr>
          <p:nvPr/>
        </p:nvCxnSpPr>
        <p:spPr bwMode="auto">
          <a:xfrm>
            <a:off x="1895475" y="3116968"/>
            <a:ext cx="2673350" cy="743943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C593E055-5BDE-AC2F-30E7-ED52DAE54B24}"/>
              </a:ext>
            </a:extLst>
          </p:cNvPr>
          <p:cNvCxnSpPr>
            <a:stCxn id="27" idx="2"/>
            <a:endCxn id="19" idx="0"/>
          </p:cNvCxnSpPr>
          <p:nvPr/>
        </p:nvCxnSpPr>
        <p:spPr bwMode="auto">
          <a:xfrm flipH="1">
            <a:off x="4568825" y="3023910"/>
            <a:ext cx="2536978" cy="837001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D8F84647-1E42-444D-D50B-E6B98B11924D}"/>
              </a:ext>
            </a:extLst>
          </p:cNvPr>
          <p:cNvCxnSpPr>
            <a:stCxn id="19" idx="2"/>
            <a:endCxn id="23" idx="0"/>
          </p:cNvCxnSpPr>
          <p:nvPr/>
        </p:nvCxnSpPr>
        <p:spPr bwMode="auto">
          <a:xfrm>
            <a:off x="4568825" y="4230243"/>
            <a:ext cx="0" cy="272907"/>
          </a:xfrm>
          <a:prstGeom prst="straightConnector1">
            <a:avLst/>
          </a:prstGeom>
          <a:ln>
            <a:headEnd type="none" w="med" len="med"/>
            <a:tailEnd type="triangle"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35448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75E7B-EE88-8321-0FB2-085510B0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C1D9F9-2F41-E225-08AC-239255B09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2FB47B-2395-8683-A697-4D3F810CB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7EFF77A4-93DE-AA56-0EA0-7532D4251539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Datenbank-Struktur</a:t>
            </a:r>
            <a:endParaRPr lang="de-DE" kern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3085243-C94B-CA4B-72D3-34BF51DFF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012666"/>
            <a:ext cx="6311545" cy="413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5441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94A93-53FA-BA3D-6CE7-E4C9F000B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69037C-2FA7-BE84-0DE2-224EF0FAAF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163CF7B-E895-933D-1754-FF95B46EB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10:00 UTC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 err="1"/>
              <a:t>Zyte</a:t>
            </a:r>
            <a:r>
              <a:rPr lang="de-DE" dirty="0"/>
              <a:t>-Scraping für komplett vorherigen Tag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10:30 UTC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Import in </a:t>
            </a:r>
            <a:r>
              <a:rPr lang="de-DE" dirty="0" err="1"/>
              <a:t>Supabase</a:t>
            </a:r>
            <a:endParaRPr lang="de-DE" dirty="0"/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Tagesanalyse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 err="1"/>
              <a:t>FlightAware</a:t>
            </a:r>
            <a:r>
              <a:rPr lang="de-DE" dirty="0"/>
              <a:t>-Crawler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Periodische Erfassung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Direkte Speicherung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3EC237E-F226-8E39-85C9-4BDF19A6EC9E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Automatisierter Tagesablauf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224100212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3FB05-D1B3-8C56-93D1-71464984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103151-71E1-DE58-2A73-DDBD7490E2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B571B0D-0262-B4DD-C264-D21A5532B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Webanwendung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Frontend: Angular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Backend-API: </a:t>
            </a:r>
            <a:r>
              <a:rPr lang="de-DE" dirty="0" err="1"/>
              <a:t>ExpressJS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/>
              <a:t>Crawler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Periodische Ausführung von </a:t>
            </a:r>
            <a:r>
              <a:rPr lang="de-DE" dirty="0" err="1"/>
              <a:t>Crawling</a:t>
            </a:r>
            <a:r>
              <a:rPr lang="de-DE" dirty="0"/>
              <a:t>-/Scraping-Skripten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Bibliotheken:</a:t>
            </a:r>
          </a:p>
          <a:p>
            <a:pPr marL="1370013" lvl="2" indent="-285750">
              <a:buFont typeface="Wingdings" panose="05000000000000000000" pitchFamily="2" charset="2"/>
              <a:buChar char="§"/>
            </a:pPr>
            <a:r>
              <a:rPr lang="de-DE" dirty="0" err="1"/>
              <a:t>Scrapy</a:t>
            </a:r>
            <a:endParaRPr lang="de-DE" dirty="0"/>
          </a:p>
          <a:p>
            <a:pPr marL="1370013" lvl="2" indent="-285750">
              <a:buFont typeface="Wingdings" panose="05000000000000000000" pitchFamily="2" charset="2"/>
              <a:buChar char="§"/>
            </a:pPr>
            <a:r>
              <a:rPr lang="de-DE" dirty="0" err="1"/>
              <a:t>BeautifulSoup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b="1" dirty="0" err="1"/>
              <a:t>Datenpersistierung</a:t>
            </a:r>
            <a:r>
              <a:rPr lang="de-DE" b="1" dirty="0"/>
              <a:t> in zentraler Datenbank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/>
              <a:t>PostgreSQL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DDCD8A9-FFB2-7CE4-9FCB-AE7E5CE6A492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Architektur und Design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286636209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AA811-F43E-8C58-F646-3F95AEEE7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5751D2-7BFE-46AC-F712-CB5D7045E8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E868806C-31EF-E13E-B490-46D6E5EB1E7C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Erfasste Flugbewegungen pro Tag</a:t>
            </a:r>
            <a:endParaRPr lang="de-DE" kern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0A56DAA-9458-BBA8-01B6-4AA06709C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03" y="958644"/>
            <a:ext cx="6508597" cy="416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1747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EF41-A9FC-65BF-031D-5757393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E78C17-6415-19BB-67B6-202D6B5309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7DE54AB-3798-8152-00F3-2BC2F47C55D1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Verspätungsquote der Ankünfte</a:t>
            </a:r>
            <a:endParaRPr lang="de-DE" kern="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1AB2FF1-5C4D-7840-68C0-13C233D6C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085103"/>
            <a:ext cx="6865571" cy="367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5150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93DD1-6B6F-95DC-1FF5-B4A6051E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2A21A1-D06B-8670-9DB9-D536C3976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F1308FDF-2304-A675-ADFD-A6BBCF8FBC66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Verspätungsquote der Abflüge</a:t>
            </a:r>
            <a:endParaRPr lang="de-DE" kern="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C76F4B3-2979-10CA-BC26-3770B6986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" y="1012666"/>
            <a:ext cx="7216140" cy="386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08603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DD6C-4ED1-36A4-2F23-991C58CB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ABA7D7-5A36-2DF0-9257-6CC71EC7C0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D31F50A-0D70-632C-3501-9B81ADBC6DEA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Verspätung der Ankünfte</a:t>
            </a:r>
            <a:endParaRPr lang="de-DE" kern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FE1B084-41AF-D5AA-38EA-E91D3A624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18" y="1012666"/>
            <a:ext cx="8381395" cy="343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0360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56F2-5448-9DF3-4829-A485954C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1FE664-9F24-24C8-091A-F8581A6AEE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F80D83D3-69E6-3230-59FC-9122813D046E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Verspätung der Abflüge</a:t>
            </a:r>
            <a:endParaRPr lang="de-DE" kern="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EE0CDA3-BC01-B1FE-A9EA-323F3660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38" y="1137167"/>
            <a:ext cx="8336280" cy="343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5168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AA5C1-7CD4-ABBC-D957-FF64EEC1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802C02-A662-3E33-9485-7545772F67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F80D3FB-7469-146D-C040-BCC3632A0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algn="ctr"/>
            <a:endParaRPr lang="de-DE" sz="4800" dirty="0"/>
          </a:p>
          <a:p>
            <a:pPr algn="ctr"/>
            <a:r>
              <a:rPr lang="de-DE" sz="4800" dirty="0"/>
              <a:t>Live-Demo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B0F9C20-9557-E046-3118-70B706B6657E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Web-Anwendung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230600885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3B3A-2968-FE8E-9A98-9A978A5C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D8A7D6-BE0E-8762-046D-A72297A32E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5471C2D-5307-A9BF-813B-84CFFA932C6E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Web-Anwendung</a:t>
            </a:r>
            <a:endParaRPr lang="de-DE" kern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66C8FD-4898-D4AA-AAC8-04DA1408C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" y="0"/>
            <a:ext cx="9144000" cy="45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4299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CA414-D0FC-54B6-0291-269E294B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FC4875-AEA0-EE08-8709-EE5BDB4CA0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4C49099-FC7D-10D2-5BCE-44E06BC2FFC8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Web-Anwendung</a:t>
            </a:r>
            <a:endParaRPr lang="de-DE" kern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9110F8F-EAB3-736E-984A-EB97A0E48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49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0884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6B41-F0D5-A5A2-4C31-7443E1DF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CC44F3-4CC0-7896-5421-73BDB078DA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8C60C4E-AE5C-9886-2152-26DEB1E839FB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Web-Anwendung</a:t>
            </a:r>
            <a:endParaRPr lang="de-DE" kern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B49DC27-6EEA-EF49-2BCD-5F1F599C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47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0947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6D335-2C4A-58A3-3DB8-6BF43701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3160CB-CEAA-A18A-0FB8-0EB74F638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E8F6E48D-0735-CDA2-B68B-752EBF81F848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Web-Anwendung</a:t>
            </a:r>
            <a:endParaRPr lang="de-DE" kern="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E7ADB70-164B-54B0-0D16-5B1389DFA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49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7233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8A249-8807-4550-AD3A-EE10EC39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B0D29E-B3DA-ADD5-4D87-49B6EE32A5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F474EC2-545F-3AB1-1605-B7F94B9931F1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Web-Anwendung</a:t>
            </a:r>
            <a:endParaRPr lang="de-DE" kern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4D505BA-E735-74D3-3D49-684757F84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5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82756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57D8E-DCB3-9A8B-67F9-A1FFF322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EA9DBD-6B15-C223-6EFC-3C63F9183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C38277-A172-E52E-3016-8F761BA46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Bot-Erkennung und Captchas bei häufigen Anfragen </a:t>
            </a:r>
          </a:p>
          <a:p>
            <a:pPr marL="917575" lvl="1" indent="-285750">
              <a:buFont typeface="Wingdings" panose="05000000000000000000" pitchFamily="2" charset="2"/>
              <a:buChar char="§"/>
            </a:pPr>
            <a:r>
              <a:rPr lang="de-DE" dirty="0">
                <a:sym typeface="Wingdings" panose="05000000000000000000" pitchFamily="2" charset="2"/>
              </a:rPr>
              <a:t> Scheitern der </a:t>
            </a:r>
            <a:r>
              <a:rPr lang="de-DE" dirty="0" err="1">
                <a:sym typeface="Wingdings" panose="05000000000000000000" pitchFamily="2" charset="2"/>
              </a:rPr>
              <a:t>FlightEra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Unzuverlässige GitHub-Cron-Ausführung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Fehlende Abflugverspätungen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A235DD1-F0A0-8E3C-0BBB-170FB25BE2A8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Schwierigkeiten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333660791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4AE9-0FF0-EDD2-C7DA-1EE66A381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642F63-CC5F-1FAC-1B41-77CE59B27E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7E0C9D1-B839-C76F-273F-404180666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Zwei unterschiedliche Scraping-Pipelines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Insgesamt sechs erfasse Flughäfen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Automatisierter Import und tägliche Analyse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Interaktive Darstellung und Auswertung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Aufgrund geringerer Abdeckung </a:t>
            </a:r>
            <a:r>
              <a:rPr lang="de-DE" dirty="0">
                <a:sym typeface="Wingdings" panose="05000000000000000000" pitchFamily="2" charset="2"/>
              </a:rPr>
              <a:t> Zentraler Dienst wie </a:t>
            </a:r>
            <a:r>
              <a:rPr lang="de-DE" dirty="0" err="1">
                <a:sym typeface="Wingdings" panose="05000000000000000000" pitchFamily="2" charset="2"/>
              </a:rPr>
              <a:t>FlightAware</a:t>
            </a:r>
            <a:endParaRPr lang="de-DE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07FD32D-C0B7-41E9-3B63-B411A381C7F0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" dirty="0"/>
              <a:t>Fazit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25289527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9DC65D-D316-6906-F4A9-BDB4A4256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pic>
        <p:nvPicPr>
          <p:cNvPr id="6" name="Inhaltsplatzhalter 5" descr="Kundenbewertung Silhouette">
            <a:extLst>
              <a:ext uri="{FF2B5EF4-FFF2-40B4-BE49-F238E27FC236}">
                <a16:creationId xmlns:a16="http://schemas.microsoft.com/office/drawing/2014/main" id="{DB91DB5A-561F-1705-A21A-0B0742B65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8521" y="1410020"/>
            <a:ext cx="3160393" cy="3160393"/>
          </a:xfr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5CC4A2FE-928B-1D57-4566-DEC98887E457}"/>
              </a:ext>
            </a:extLst>
          </p:cNvPr>
          <p:cNvSpPr txBox="1">
            <a:spLocks/>
          </p:cNvSpPr>
          <p:nvPr/>
        </p:nvSpPr>
        <p:spPr>
          <a:xfrm>
            <a:off x="258977" y="519065"/>
            <a:ext cx="8638960" cy="336550"/>
          </a:xfrm>
          <a:prstGeom prst="rect">
            <a:avLst/>
          </a:prstGeom>
          <a:ln>
            <a:solidFill>
              <a:schemeClr val="tx1">
                <a:alpha val="0"/>
              </a:schemeClr>
            </a:solidFill>
          </a:ln>
        </p:spPr>
        <p:txBody>
          <a:bodyPr vert="horz" lIns="0" tIns="0" rIns="0" bIns="0" anchor="b" anchorCtr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/>
                <a:ea typeface="+mj-ea"/>
                <a:cs typeface="Arial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dirty="0"/>
              <a:t>Diskussion</a:t>
            </a: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111951649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aster_16zu9 2022">
  <a:themeElements>
    <a:clrScheme name="Leere Präsentation 2">
      <a:dk1>
        <a:srgbClr val="000000"/>
      </a:dk1>
      <a:lt1>
        <a:srgbClr val="FFFFFF"/>
      </a:lt1>
      <a:dk2>
        <a:srgbClr val="005EAD"/>
      </a:dk2>
      <a:lt2>
        <a:srgbClr val="000000"/>
      </a:lt2>
      <a:accent1>
        <a:srgbClr val="C0C0C0"/>
      </a:accent1>
      <a:accent2>
        <a:srgbClr val="005EAD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49C"/>
      </a:accent6>
      <a:hlink>
        <a:srgbClr val="B2B2B2"/>
      </a:hlink>
      <a:folHlink>
        <a:srgbClr val="000000"/>
      </a:folHlink>
    </a:clrScheme>
    <a:fontScheme name="Leere Prä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2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 xmlns="">
              <a:solidFill>
                <a:schemeClr val="accent2"/>
              </a:solidFill>
            </a14:hiddenFill>
          </a:ex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33CC"/>
        </a:dk2>
        <a:lt2>
          <a:srgbClr val="000000"/>
        </a:lt2>
        <a:accent1>
          <a:srgbClr val="3399FF"/>
        </a:accent1>
        <a:accent2>
          <a:srgbClr val="0033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002DB9"/>
        </a:accent6>
        <a:hlink>
          <a:srgbClr val="CC00CC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e Präsentation 2">
        <a:dk1>
          <a:srgbClr val="000000"/>
        </a:dk1>
        <a:lt1>
          <a:srgbClr val="FFFFFF"/>
        </a:lt1>
        <a:dk2>
          <a:srgbClr val="005EAD"/>
        </a:dk2>
        <a:lt2>
          <a:srgbClr val="000000"/>
        </a:lt2>
        <a:accent1>
          <a:srgbClr val="C0C0C0"/>
        </a:accent1>
        <a:accent2>
          <a:srgbClr val="005EA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49C"/>
        </a:accent6>
        <a:hlink>
          <a:srgbClr val="B2B2B2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PPT-Master_16zu9_2022</Template>
  <TotalTime>0</TotalTime>
  <Words>480</Words>
  <Application>Microsoft Office PowerPoint</Application>
  <PresentationFormat>Bildschirmpräsentation (16:9)</PresentationFormat>
  <Paragraphs>164</Paragraphs>
  <Slides>25</Slides>
  <Notes>25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  <vt:variant>
        <vt:lpstr>Zielgruppenorientierte Präsentationen</vt:lpstr>
      </vt:variant>
      <vt:variant>
        <vt:i4>1</vt:i4>
      </vt:variant>
    </vt:vector>
  </HeadingPairs>
  <TitlesOfParts>
    <vt:vector size="31" baseType="lpstr">
      <vt:lpstr>Arial</vt:lpstr>
      <vt:lpstr>Syntax</vt:lpstr>
      <vt:lpstr>Times</vt:lpstr>
      <vt:lpstr>Wingdings</vt:lpstr>
      <vt:lpstr>Master_16zu9 2022</vt:lpstr>
      <vt:lpstr>Web-basierte Analyse von Airline- und Flughafendaten durch automatisiertes Web-Scraping - Web Mining</vt:lpstr>
      <vt:lpstr>Inhaltsverzeichnis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Mustermann1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Doga Arinir</dc:creator>
  <cp:lastModifiedBy>Cihan Wiatrowski</cp:lastModifiedBy>
  <cp:revision>100</cp:revision>
  <cp:lastPrinted>2010-04-29T14:30:22Z</cp:lastPrinted>
  <dcterms:created xsi:type="dcterms:W3CDTF">2023-10-17T18:36:52Z</dcterms:created>
  <dcterms:modified xsi:type="dcterms:W3CDTF">2026-09-03T15:48:25Z</dcterms:modified>
</cp:coreProperties>
</file>