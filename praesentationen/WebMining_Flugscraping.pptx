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413" r:id="rId2"/>
    <p:sldId id="418" r:id="rId3"/>
    <p:sldId id="421" r:id="rId4"/>
    <p:sldId id="422" r:id="rId5"/>
    <p:sldId id="423" r:id="rId6"/>
    <p:sldId id="425" r:id="rId7"/>
    <p:sldId id="426" r:id="rId8"/>
    <p:sldId id="427" r:id="rId9"/>
    <p:sldId id="428" r:id="rId10"/>
    <p:sldId id="429" r:id="rId11"/>
    <p:sldId id="420" r:id="rId12"/>
  </p:sldIdLst>
  <p:sldSz cx="9144000" cy="5143500" type="screen16x9"/>
  <p:notesSz cx="6858000" cy="9661525"/>
  <p:custShowLst>
    <p:custShow name="Mustermann1" id="0">
      <p:sldLst/>
    </p:custShow>
  </p:custShow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BFB8F45D-6642-4A14-9C4F-DEDB5EF3AD15}">
          <p14:sldIdLst>
            <p14:sldId id="413"/>
            <p14:sldId id="418"/>
            <p14:sldId id="421"/>
            <p14:sldId id="422"/>
            <p14:sldId id="423"/>
            <p14:sldId id="425"/>
            <p14:sldId id="426"/>
            <p14:sldId id="427"/>
            <p14:sldId id="428"/>
            <p14:sldId id="429"/>
            <p14:sldId id="4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12">
          <p15:clr>
            <a:srgbClr val="A4A3A4"/>
          </p15:clr>
        </p15:guide>
        <p15:guide id="2" orient="horz" pos="2863">
          <p15:clr>
            <a:srgbClr val="A4A3A4"/>
          </p15:clr>
        </p15:guide>
        <p15:guide id="3" orient="horz" pos="813">
          <p15:clr>
            <a:srgbClr val="A4A3A4"/>
          </p15:clr>
        </p15:guide>
        <p15:guide id="4" orient="horz" pos="3118">
          <p15:clr>
            <a:srgbClr val="A4A3A4"/>
          </p15:clr>
        </p15:guide>
        <p15:guide id="5" orient="horz" pos="365">
          <p15:clr>
            <a:srgbClr val="A4A3A4"/>
          </p15:clr>
        </p15:guide>
        <p15:guide id="6" orient="horz" pos="595">
          <p15:clr>
            <a:srgbClr val="A4A3A4"/>
          </p15:clr>
        </p15:guide>
        <p15:guide id="7" pos="2881">
          <p15:clr>
            <a:srgbClr val="A4A3A4"/>
          </p15:clr>
        </p15:guide>
        <p15:guide id="8" pos="293">
          <p15:clr>
            <a:srgbClr val="A4A3A4"/>
          </p15:clr>
        </p15:guide>
        <p15:guide id="9" pos="1394">
          <p15:clr>
            <a:srgbClr val="A4A3A4"/>
          </p15:clr>
        </p15:guide>
        <p15:guide id="10" pos="1303">
          <p15:clr>
            <a:srgbClr val="A4A3A4"/>
          </p15:clr>
        </p15:guide>
        <p15:guide id="11" orient="horz" pos="3096">
          <p15:clr>
            <a:srgbClr val="A4A3A4"/>
          </p15:clr>
        </p15:guide>
        <p15:guide id="12" orient="horz" pos="710">
          <p15:clr>
            <a:srgbClr val="A4A3A4"/>
          </p15:clr>
        </p15:guide>
        <p15:guide id="13" orient="horz" pos="2867">
          <p15:clr>
            <a:srgbClr val="A4A3A4"/>
          </p15:clr>
        </p15:guide>
        <p15:guide id="14" orient="horz" pos="361">
          <p15:clr>
            <a:srgbClr val="A4A3A4"/>
          </p15:clr>
        </p15:guide>
        <p15:guide id="15" pos="15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4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E006E"/>
    <a:srgbClr val="005EAD"/>
    <a:srgbClr val="FF3300"/>
    <a:srgbClr val="800000"/>
    <a:srgbClr val="990000"/>
    <a:srgbClr val="CC0000"/>
    <a:srgbClr val="FFCC00"/>
    <a:srgbClr val="002F52"/>
    <a:srgbClr val="0037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4" autoAdjust="0"/>
    <p:restoredTop sz="88438" autoAdjust="0"/>
  </p:normalViewPr>
  <p:slideViewPr>
    <p:cSldViewPr snapToGrid="0" showGuides="1">
      <p:cViewPr varScale="1">
        <p:scale>
          <a:sx n="129" d="100"/>
          <a:sy n="129" d="100"/>
        </p:scale>
        <p:origin x="1278" y="114"/>
      </p:cViewPr>
      <p:guideLst>
        <p:guide orient="horz" pos="112"/>
        <p:guide orient="horz" pos="2863"/>
        <p:guide orient="horz" pos="813"/>
        <p:guide orient="horz" pos="3118"/>
        <p:guide orient="horz" pos="365"/>
        <p:guide orient="horz" pos="595"/>
        <p:guide pos="2881"/>
        <p:guide pos="293"/>
        <p:guide pos="1394"/>
        <p:guide pos="1303"/>
        <p:guide orient="horz" pos="3096"/>
        <p:guide orient="horz" pos="710"/>
        <p:guide orient="horz" pos="2867"/>
        <p:guide orient="horz" pos="361"/>
        <p:guide pos="1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-312" y="-112"/>
      </p:cViewPr>
      <p:guideLst>
        <p:guide orient="horz" pos="304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Times" charset="0"/>
              </a:defRPr>
            </a:lvl1pPr>
          </a:lstStyle>
          <a:p>
            <a:endParaRPr lang="de-DE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" charset="0"/>
              </a:defRPr>
            </a:lvl1pPr>
          </a:lstStyle>
          <a:p>
            <a:endParaRPr lang="de-DE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77338"/>
            <a:ext cx="2971800" cy="48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Times" charset="0"/>
              </a:defRPr>
            </a:lvl1pPr>
          </a:lstStyle>
          <a:p>
            <a:endParaRPr lang="de-DE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177338"/>
            <a:ext cx="2971800" cy="48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" charset="0"/>
              </a:defRPr>
            </a:lvl1pPr>
          </a:lstStyle>
          <a:p>
            <a:fld id="{D54606BC-1185-6343-8CD4-1A7CC7DA3AB6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39445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3916363" y="536575"/>
            <a:ext cx="14692313" cy="82661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819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85750" y="8910638"/>
            <a:ext cx="6286500" cy="43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die Textformatierung des Masters zu bearbeiten.</a:t>
            </a:r>
          </a:p>
        </p:txBody>
      </p:sp>
    </p:spTree>
    <p:extLst>
      <p:ext uri="{BB962C8B-B14F-4D97-AF65-F5344CB8AC3E}">
        <p14:creationId xmlns:p14="http://schemas.microsoft.com/office/powerpoint/2010/main" val="16122181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ctr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yntax" charset="0"/>
        <a:ea typeface="ＭＳ Ｐゴシック" charset="0"/>
        <a:cs typeface="+mn-cs"/>
      </a:defRPr>
    </a:lvl1pPr>
    <a:lvl2pPr marL="457200" algn="ctr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yntax" charset="0"/>
        <a:ea typeface="ＭＳ Ｐゴシック" charset="0"/>
        <a:cs typeface="+mn-cs"/>
      </a:defRPr>
    </a:lvl2pPr>
    <a:lvl3pPr marL="914400" algn="ctr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yntax" charset="0"/>
        <a:ea typeface="ＭＳ Ｐゴシック" charset="0"/>
        <a:cs typeface="+mn-cs"/>
      </a:defRPr>
    </a:lvl3pPr>
    <a:lvl4pPr marL="1371600" algn="ctr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yntax" charset="0"/>
        <a:ea typeface="ＭＳ Ｐゴシック" charset="0"/>
        <a:cs typeface="+mn-cs"/>
      </a:defRPr>
    </a:lvl4pPr>
    <a:lvl5pPr marL="1828800" algn="ctr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yntax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4444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563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9D6AB-E3CF-F200-26F5-0AE72F39A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E9FFE88-E646-4819-4631-5D623FF59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02EF32E-6F29-2360-1D86-647555CD9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0467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D3D4F-8EAA-225F-A816-EFF724427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493197C-DD71-BF90-71B6-12AFA2C47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400CBEC-12A0-A35B-39A5-261393AE8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6067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1DE29-5C47-9FCB-80BF-57916AEB0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44D25B2-2C69-909A-05F4-43F6A640E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E777577-F3A2-B50B-6BA0-FB3FFD99A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9279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97CDE-D246-7AE2-0C0D-E315B6D9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6E2FAD-8674-8015-CE41-E2740B63C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7A78791-B676-E8AE-CEEA-2D7416766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1938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3ED4-2447-2389-59E4-F90225215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445A461-CD04-188E-6566-C1D78E00B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EDC6D91-FB00-0E9A-A2D9-0DAA97E89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7159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94F1D-413D-4969-7A31-8A90B5849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E37313A-A6E7-8E00-383A-F48278AC6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068A41F-A1E9-8E15-07B6-884CDD364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5291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DA2E1-2DDE-25CA-C37B-77505EE73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F295E47-A493-D726-C4F1-D8297CE15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0C81581-E5FA-87CF-0854-F4F1A14D3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5582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24DFD-F3F7-6700-5D5B-541C22D5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BCBEF1B-B40B-ADFE-5DE4-18D92C9B5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B015195-A9B6-E517-CFEF-E10BF9AD3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6417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2046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6"/>
          <p:cNvSpPr>
            <a:spLocks noGrp="1"/>
          </p:cNvSpPr>
          <p:nvPr>
            <p:ph type="pic" sz="quarter" idx="11"/>
          </p:nvPr>
        </p:nvSpPr>
        <p:spPr>
          <a:xfrm>
            <a:off x="0" y="971447"/>
            <a:ext cx="9144000" cy="3215456"/>
          </a:xfrm>
          <a:prstGeom prst="rect">
            <a:avLst/>
          </a:prstGeom>
        </p:spPr>
        <p:txBody>
          <a:bodyPr vert="horz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10" name="Bild 9" descr="FH-SWF_Logo-RGB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892" y="4280416"/>
            <a:ext cx="1966296" cy="722312"/>
          </a:xfrm>
          <a:prstGeom prst="rect">
            <a:avLst/>
          </a:prstGeom>
        </p:spPr>
      </p:pic>
      <p:pic>
        <p:nvPicPr>
          <p:cNvPr id="11" name="Bild 10" descr="Claim-RGB.ai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38" y="4636051"/>
            <a:ext cx="1269759" cy="278849"/>
          </a:xfrm>
          <a:prstGeom prst="rect">
            <a:avLst/>
          </a:prstGeom>
        </p:spPr>
      </p:pic>
      <p:sp>
        <p:nvSpPr>
          <p:cNvPr id="12" name="Titel 6"/>
          <p:cNvSpPr>
            <a:spLocks noGrp="1"/>
          </p:cNvSpPr>
          <p:nvPr>
            <p:ph type="title" hasCustomPrompt="1"/>
          </p:nvPr>
        </p:nvSpPr>
        <p:spPr>
          <a:xfrm>
            <a:off x="249238" y="177800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>
              <a:defRPr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Headline (Arial 24 Pt, </a:t>
            </a:r>
            <a:r>
              <a:rPr lang="de-DE" dirty="0" err="1">
                <a:solidFill>
                  <a:schemeClr val="tx2"/>
                </a:solidFill>
                <a:latin typeface="Arial"/>
                <a:cs typeface="Arial"/>
              </a:rPr>
              <a:t>Bold</a:t>
            </a:r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3" name="Textplatzhalter 3" title="Test"/>
          <p:cNvSpPr>
            <a:spLocks noGrp="1"/>
          </p:cNvSpPr>
          <p:nvPr>
            <p:ph type="body" sz="quarter" idx="10" hasCustomPrompt="1"/>
          </p:nvPr>
        </p:nvSpPr>
        <p:spPr>
          <a:xfrm>
            <a:off x="249238" y="573087"/>
            <a:ext cx="8639175" cy="385557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8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Subheadline (Arial 18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auto">
          <a:xfrm>
            <a:off x="0" y="950913"/>
            <a:ext cx="9144000" cy="3600450"/>
          </a:xfrm>
          <a:prstGeom prst="rect">
            <a:avLst/>
          </a:prstGeom>
          <a:solidFill>
            <a:schemeClr val="accent5"/>
          </a:solidFill>
          <a:ln w="1270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13" name="Inhaltsplatzhalter 2"/>
          <p:cNvSpPr>
            <a:spLocks noGrp="1"/>
          </p:cNvSpPr>
          <p:nvPr>
            <p:ph idx="1"/>
          </p:nvPr>
        </p:nvSpPr>
        <p:spPr>
          <a:xfrm>
            <a:off x="249238" y="1127125"/>
            <a:ext cx="8648699" cy="3424238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rgbClr val="005EAD"/>
              </a:buClr>
              <a:defRPr/>
            </a:lvl1pPr>
            <a:lvl2pPr marL="631825" indent="-180975"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4" name="Bild 13" descr="FH-SWF_Logo-RGB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311" y="4581115"/>
            <a:ext cx="1061911" cy="390090"/>
          </a:xfrm>
          <a:prstGeom prst="rect">
            <a:avLst/>
          </a:prstGeom>
        </p:spPr>
      </p:pic>
      <p:sp>
        <p:nvSpPr>
          <p:cNvPr id="15" name="Text Box 149"/>
          <p:cNvSpPr txBox="1">
            <a:spLocks noChangeArrowheads="1"/>
          </p:cNvSpPr>
          <p:nvPr userDrawn="1"/>
        </p:nvSpPr>
        <p:spPr bwMode="auto">
          <a:xfrm>
            <a:off x="241300" y="4791639"/>
            <a:ext cx="6820207" cy="121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de-DE" sz="800" dirty="0">
                <a:solidFill>
                  <a:schemeClr val="tx1"/>
                </a:solidFill>
              </a:rPr>
              <a:t>Folie </a:t>
            </a:r>
            <a:fld id="{44BA279E-E9BC-D743-974C-EFE8A41952FB}" type="slidenum">
              <a:rPr lang="de-DE" sz="800" smtClean="0">
                <a:solidFill>
                  <a:schemeClr val="tx1"/>
                </a:solidFill>
              </a:rPr>
              <a:pPr algn="l">
                <a:spcBef>
                  <a:spcPct val="50000"/>
                </a:spcBef>
              </a:pPr>
              <a:t>‹Nr.›</a:t>
            </a:fld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300" y="4645742"/>
            <a:ext cx="6829732" cy="13929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>
              <a:defRPr lang="de-DE" sz="800" dirty="0">
                <a:solidFill>
                  <a:schemeClr val="tx1"/>
                </a:solidFill>
              </a:defRPr>
            </a:lvl1pPr>
          </a:lstStyle>
          <a:p>
            <a:pPr algn="l"/>
            <a:r>
              <a:rPr lang="de-DE" dirty="0"/>
              <a:t>Autor (4/2022)</a:t>
            </a:r>
          </a:p>
        </p:txBody>
      </p:sp>
      <p:sp>
        <p:nvSpPr>
          <p:cNvPr id="17" name="Titel 6"/>
          <p:cNvSpPr>
            <a:spLocks noGrp="1"/>
          </p:cNvSpPr>
          <p:nvPr>
            <p:ph type="title" hasCustomPrompt="1"/>
          </p:nvPr>
        </p:nvSpPr>
        <p:spPr>
          <a:xfrm>
            <a:off x="249238" y="177800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>
              <a:defRPr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Headline (Arial 24 Pt, </a:t>
            </a:r>
            <a:r>
              <a:rPr lang="de-DE" dirty="0" err="1">
                <a:solidFill>
                  <a:schemeClr val="tx2"/>
                </a:solidFill>
                <a:latin typeface="Arial"/>
                <a:cs typeface="Arial"/>
              </a:rPr>
              <a:t>Bold</a:t>
            </a:r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8" name="Textplatzhalter 3" title="Test"/>
          <p:cNvSpPr>
            <a:spLocks noGrp="1"/>
          </p:cNvSpPr>
          <p:nvPr>
            <p:ph type="body" sz="quarter" idx="10" hasCustomPrompt="1"/>
          </p:nvPr>
        </p:nvSpPr>
        <p:spPr>
          <a:xfrm>
            <a:off x="249238" y="573087"/>
            <a:ext cx="8639175" cy="385557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8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Subheadline (Arial 18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928897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auto">
          <a:xfrm>
            <a:off x="0" y="950913"/>
            <a:ext cx="9144000" cy="3600450"/>
          </a:xfrm>
          <a:prstGeom prst="rect">
            <a:avLst/>
          </a:prstGeom>
          <a:solidFill>
            <a:schemeClr val="accent5"/>
          </a:solidFill>
          <a:ln w="1270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pic>
        <p:nvPicPr>
          <p:cNvPr id="14" name="Bild 13" descr="FH-SWF_Logo-RGB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311" y="4581115"/>
            <a:ext cx="1061911" cy="390090"/>
          </a:xfrm>
          <a:prstGeom prst="rect">
            <a:avLst/>
          </a:prstGeom>
        </p:spPr>
      </p:pic>
      <p:sp>
        <p:nvSpPr>
          <p:cNvPr id="15" name="Text Box 149"/>
          <p:cNvSpPr txBox="1">
            <a:spLocks noChangeArrowheads="1"/>
          </p:cNvSpPr>
          <p:nvPr userDrawn="1"/>
        </p:nvSpPr>
        <p:spPr bwMode="auto">
          <a:xfrm>
            <a:off x="241300" y="4791639"/>
            <a:ext cx="6820207" cy="121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de-DE" sz="800" dirty="0">
                <a:solidFill>
                  <a:schemeClr val="tx1"/>
                </a:solidFill>
              </a:rPr>
              <a:t>Folie </a:t>
            </a:r>
            <a:fld id="{44BA279E-E9BC-D743-974C-EFE8A41952FB}" type="slidenum">
              <a:rPr lang="de-DE" sz="800" smtClean="0">
                <a:solidFill>
                  <a:schemeClr val="tx1"/>
                </a:solidFill>
              </a:rPr>
              <a:pPr algn="l">
                <a:spcBef>
                  <a:spcPct val="50000"/>
                </a:spcBef>
              </a:pPr>
              <a:t>‹Nr.›</a:t>
            </a:fld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300" y="4645742"/>
            <a:ext cx="6829732" cy="13929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>
              <a:defRPr lang="de-DE" sz="800" dirty="0">
                <a:solidFill>
                  <a:schemeClr val="tx1"/>
                </a:solidFill>
              </a:defRPr>
            </a:lvl1pPr>
          </a:lstStyle>
          <a:p>
            <a:pPr algn="l"/>
            <a:r>
              <a:rPr lang="de-DE" dirty="0"/>
              <a:t>Autor (4/2022)</a:t>
            </a:r>
          </a:p>
        </p:txBody>
      </p:sp>
      <p:sp>
        <p:nvSpPr>
          <p:cNvPr id="17" name="Titel 6"/>
          <p:cNvSpPr>
            <a:spLocks noGrp="1"/>
          </p:cNvSpPr>
          <p:nvPr>
            <p:ph type="title" hasCustomPrompt="1"/>
          </p:nvPr>
        </p:nvSpPr>
        <p:spPr>
          <a:xfrm>
            <a:off x="249238" y="177800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>
              <a:defRPr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Headline (Arial 24 Pt, </a:t>
            </a:r>
            <a:r>
              <a:rPr lang="de-DE" dirty="0" err="1">
                <a:solidFill>
                  <a:schemeClr val="tx2"/>
                </a:solidFill>
                <a:latin typeface="Arial"/>
                <a:cs typeface="Arial"/>
              </a:rPr>
              <a:t>Bold</a:t>
            </a:r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8" name="Textplatzhalter 3" title="Test"/>
          <p:cNvSpPr>
            <a:spLocks noGrp="1"/>
          </p:cNvSpPr>
          <p:nvPr>
            <p:ph type="body" sz="quarter" idx="10" hasCustomPrompt="1"/>
          </p:nvPr>
        </p:nvSpPr>
        <p:spPr>
          <a:xfrm>
            <a:off x="249238" y="573087"/>
            <a:ext cx="8639175" cy="385557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8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Subheadline (Arial 18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  <p:sp>
        <p:nvSpPr>
          <p:cNvPr id="19" name="Inhaltsplatzhalter 2"/>
          <p:cNvSpPr>
            <a:spLocks noGrp="1"/>
          </p:cNvSpPr>
          <p:nvPr>
            <p:ph idx="1"/>
          </p:nvPr>
        </p:nvSpPr>
        <p:spPr>
          <a:xfrm>
            <a:off x="4796401" y="1127125"/>
            <a:ext cx="4083050" cy="3424238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rgbClr val="005EAD"/>
              </a:buClr>
              <a:defRPr/>
            </a:lvl1pPr>
            <a:lvl2pPr marL="631825" indent="-180975"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0" name="Inhaltsplatzhalter 2"/>
          <p:cNvSpPr>
            <a:spLocks noGrp="1"/>
          </p:cNvSpPr>
          <p:nvPr>
            <p:ph idx="12"/>
          </p:nvPr>
        </p:nvSpPr>
        <p:spPr>
          <a:xfrm>
            <a:off x="249238" y="1127125"/>
            <a:ext cx="4083050" cy="3424238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rgbClr val="005EAD"/>
              </a:buClr>
              <a:defRPr/>
            </a:lvl1pPr>
            <a:lvl2pPr marL="631825" indent="-180975"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135309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t 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auto">
          <a:xfrm>
            <a:off x="0" y="950913"/>
            <a:ext cx="9144000" cy="3600450"/>
          </a:xfrm>
          <a:prstGeom prst="rect">
            <a:avLst/>
          </a:prstGeom>
          <a:solidFill>
            <a:schemeClr val="accent5"/>
          </a:solidFill>
          <a:ln w="1270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pic>
        <p:nvPicPr>
          <p:cNvPr id="14" name="Bild 13" descr="FH-SWF_Logo-RGB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311" y="4581115"/>
            <a:ext cx="1061911" cy="390090"/>
          </a:xfrm>
          <a:prstGeom prst="rect">
            <a:avLst/>
          </a:prstGeom>
        </p:spPr>
      </p:pic>
      <p:sp>
        <p:nvSpPr>
          <p:cNvPr id="15" name="Text Box 149"/>
          <p:cNvSpPr txBox="1">
            <a:spLocks noChangeArrowheads="1"/>
          </p:cNvSpPr>
          <p:nvPr userDrawn="1"/>
        </p:nvSpPr>
        <p:spPr bwMode="auto">
          <a:xfrm>
            <a:off x="241300" y="4791639"/>
            <a:ext cx="6820207" cy="121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de-DE" sz="800" dirty="0">
                <a:solidFill>
                  <a:schemeClr val="tx1"/>
                </a:solidFill>
              </a:rPr>
              <a:t>Folie </a:t>
            </a:r>
            <a:fld id="{44BA279E-E9BC-D743-974C-EFE8A41952FB}" type="slidenum">
              <a:rPr lang="de-DE" sz="800" smtClean="0">
                <a:solidFill>
                  <a:schemeClr val="tx1"/>
                </a:solidFill>
              </a:rPr>
              <a:pPr algn="l">
                <a:spcBef>
                  <a:spcPct val="50000"/>
                </a:spcBef>
              </a:pPr>
              <a:t>‹Nr.›</a:t>
            </a:fld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300" y="4645742"/>
            <a:ext cx="6829732" cy="13929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>
              <a:defRPr lang="de-DE" sz="800" dirty="0">
                <a:solidFill>
                  <a:schemeClr val="tx1"/>
                </a:solidFill>
              </a:defRPr>
            </a:lvl1pPr>
          </a:lstStyle>
          <a:p>
            <a:pPr algn="l"/>
            <a:r>
              <a:rPr lang="de-DE" dirty="0"/>
              <a:t>Autor (4/2022)</a:t>
            </a:r>
          </a:p>
        </p:txBody>
      </p:sp>
      <p:sp>
        <p:nvSpPr>
          <p:cNvPr id="17" name="Titel 6"/>
          <p:cNvSpPr>
            <a:spLocks noGrp="1"/>
          </p:cNvSpPr>
          <p:nvPr>
            <p:ph type="title" hasCustomPrompt="1"/>
          </p:nvPr>
        </p:nvSpPr>
        <p:spPr>
          <a:xfrm>
            <a:off x="249238" y="177800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>
              <a:defRPr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Headline (Arial 24 Pt, </a:t>
            </a:r>
            <a:r>
              <a:rPr lang="de-DE" dirty="0" err="1">
                <a:solidFill>
                  <a:schemeClr val="tx2"/>
                </a:solidFill>
                <a:latin typeface="Arial"/>
                <a:cs typeface="Arial"/>
              </a:rPr>
              <a:t>Bold</a:t>
            </a:r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8" name="Textplatzhalter 3" title="Test"/>
          <p:cNvSpPr>
            <a:spLocks noGrp="1"/>
          </p:cNvSpPr>
          <p:nvPr>
            <p:ph type="body" sz="quarter" idx="10" hasCustomPrompt="1"/>
          </p:nvPr>
        </p:nvSpPr>
        <p:spPr>
          <a:xfrm>
            <a:off x="249238" y="573087"/>
            <a:ext cx="8639175" cy="385557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8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Subheadline (Arial 18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  <p:sp>
        <p:nvSpPr>
          <p:cNvPr id="9" name="Textplatzhalter 3" title="Test"/>
          <p:cNvSpPr>
            <a:spLocks noGrp="1"/>
          </p:cNvSpPr>
          <p:nvPr>
            <p:ph type="body" sz="quarter" idx="12" hasCustomPrompt="1"/>
          </p:nvPr>
        </p:nvSpPr>
        <p:spPr>
          <a:xfrm>
            <a:off x="249238" y="1127125"/>
            <a:ext cx="8639175" cy="249391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6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Abschnittsüberschrift (Arial 16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  <p:sp>
        <p:nvSpPr>
          <p:cNvPr id="10" name="Inhaltsplatzhalter 2"/>
          <p:cNvSpPr>
            <a:spLocks noGrp="1"/>
          </p:cNvSpPr>
          <p:nvPr>
            <p:ph idx="14"/>
          </p:nvPr>
        </p:nvSpPr>
        <p:spPr>
          <a:xfrm>
            <a:off x="249238" y="1493838"/>
            <a:ext cx="8640506" cy="3057525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rgbClr val="005EAD"/>
              </a:buClr>
              <a:defRPr/>
            </a:lvl1pPr>
            <a:lvl2pPr marL="631825" indent="-180975"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172777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ig mit 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auto">
          <a:xfrm>
            <a:off x="0" y="950913"/>
            <a:ext cx="9144000" cy="3600450"/>
          </a:xfrm>
          <a:prstGeom prst="rect">
            <a:avLst/>
          </a:prstGeom>
          <a:solidFill>
            <a:schemeClr val="accent5"/>
          </a:solidFill>
          <a:ln w="1270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pic>
        <p:nvPicPr>
          <p:cNvPr id="14" name="Bild 13" descr="FH-SWF_Logo-RGB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311" y="4581115"/>
            <a:ext cx="1061911" cy="390090"/>
          </a:xfrm>
          <a:prstGeom prst="rect">
            <a:avLst/>
          </a:prstGeom>
        </p:spPr>
      </p:pic>
      <p:sp>
        <p:nvSpPr>
          <p:cNvPr id="15" name="Text Box 149"/>
          <p:cNvSpPr txBox="1">
            <a:spLocks noChangeArrowheads="1"/>
          </p:cNvSpPr>
          <p:nvPr userDrawn="1"/>
        </p:nvSpPr>
        <p:spPr bwMode="auto">
          <a:xfrm>
            <a:off x="241300" y="4791639"/>
            <a:ext cx="6820207" cy="121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de-DE" sz="800" dirty="0">
                <a:solidFill>
                  <a:schemeClr val="tx1"/>
                </a:solidFill>
              </a:rPr>
              <a:t>Folie </a:t>
            </a:r>
            <a:fld id="{44BA279E-E9BC-D743-974C-EFE8A41952FB}" type="slidenum">
              <a:rPr lang="de-DE" sz="800" smtClean="0">
                <a:solidFill>
                  <a:schemeClr val="tx1"/>
                </a:solidFill>
              </a:rPr>
              <a:pPr algn="l">
                <a:spcBef>
                  <a:spcPct val="50000"/>
                </a:spcBef>
              </a:pPr>
              <a:t>‹Nr.›</a:t>
            </a:fld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300" y="4645742"/>
            <a:ext cx="6829732" cy="13929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>
              <a:defRPr lang="de-DE" sz="800" dirty="0">
                <a:solidFill>
                  <a:schemeClr val="tx1"/>
                </a:solidFill>
              </a:defRPr>
            </a:lvl1pPr>
          </a:lstStyle>
          <a:p>
            <a:pPr algn="l"/>
            <a:r>
              <a:rPr lang="de-DE" dirty="0"/>
              <a:t>Autor (4/2022)</a:t>
            </a:r>
          </a:p>
        </p:txBody>
      </p:sp>
      <p:sp>
        <p:nvSpPr>
          <p:cNvPr id="17" name="Titel 6"/>
          <p:cNvSpPr>
            <a:spLocks noGrp="1"/>
          </p:cNvSpPr>
          <p:nvPr>
            <p:ph type="title" hasCustomPrompt="1"/>
          </p:nvPr>
        </p:nvSpPr>
        <p:spPr>
          <a:xfrm>
            <a:off x="249238" y="177800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>
              <a:defRPr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Headline (Arial 24 Pt, </a:t>
            </a:r>
            <a:r>
              <a:rPr lang="de-DE" dirty="0" err="1">
                <a:solidFill>
                  <a:schemeClr val="tx2"/>
                </a:solidFill>
                <a:latin typeface="Arial"/>
                <a:cs typeface="Arial"/>
              </a:rPr>
              <a:t>Bold</a:t>
            </a:r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8" name="Textplatzhalter 3" title="Test"/>
          <p:cNvSpPr>
            <a:spLocks noGrp="1"/>
          </p:cNvSpPr>
          <p:nvPr>
            <p:ph type="body" sz="quarter" idx="10" hasCustomPrompt="1"/>
          </p:nvPr>
        </p:nvSpPr>
        <p:spPr>
          <a:xfrm>
            <a:off x="249238" y="573087"/>
            <a:ext cx="8639175" cy="385557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8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Subheadline (Arial 18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  <p:sp>
        <p:nvSpPr>
          <p:cNvPr id="13" name="Inhaltsplatzhalter 2"/>
          <p:cNvSpPr>
            <a:spLocks noGrp="1"/>
          </p:cNvSpPr>
          <p:nvPr>
            <p:ph idx="13"/>
          </p:nvPr>
        </p:nvSpPr>
        <p:spPr>
          <a:xfrm>
            <a:off x="4825416" y="1489076"/>
            <a:ext cx="4081885" cy="3062288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rgbClr val="005EAD"/>
              </a:buClr>
              <a:defRPr/>
            </a:lvl1pPr>
            <a:lvl2pPr marL="631825" indent="-180975"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0" name="Textplatzhalter 3" title="Test"/>
          <p:cNvSpPr>
            <a:spLocks noGrp="1"/>
          </p:cNvSpPr>
          <p:nvPr>
            <p:ph type="body" sz="quarter" idx="12" hasCustomPrompt="1"/>
          </p:nvPr>
        </p:nvSpPr>
        <p:spPr>
          <a:xfrm>
            <a:off x="249238" y="1127125"/>
            <a:ext cx="8639175" cy="249391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6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Abschnittsüberschrift (Arial 16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  <p:sp>
        <p:nvSpPr>
          <p:cNvPr id="21" name="Inhaltsplatzhalter 2"/>
          <p:cNvSpPr>
            <a:spLocks noGrp="1"/>
          </p:cNvSpPr>
          <p:nvPr>
            <p:ph idx="15"/>
          </p:nvPr>
        </p:nvSpPr>
        <p:spPr>
          <a:xfrm>
            <a:off x="249238" y="1493838"/>
            <a:ext cx="4104299" cy="3057525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rgbClr val="005EAD"/>
              </a:buClr>
              <a:defRPr/>
            </a:lvl1pPr>
            <a:lvl2pPr marL="631825" indent="-180975"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706108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 13" descr="FH-SWF_Logo-RGB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311" y="4581115"/>
            <a:ext cx="1061911" cy="390090"/>
          </a:xfrm>
          <a:prstGeom prst="rect">
            <a:avLst/>
          </a:prstGeom>
        </p:spPr>
      </p:pic>
      <p:sp>
        <p:nvSpPr>
          <p:cNvPr id="15" name="Text Box 149"/>
          <p:cNvSpPr txBox="1">
            <a:spLocks noChangeArrowheads="1"/>
          </p:cNvSpPr>
          <p:nvPr userDrawn="1"/>
        </p:nvSpPr>
        <p:spPr bwMode="auto">
          <a:xfrm>
            <a:off x="241300" y="4791639"/>
            <a:ext cx="6820207" cy="121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de-DE" sz="800" dirty="0">
                <a:solidFill>
                  <a:schemeClr val="tx1"/>
                </a:solidFill>
              </a:rPr>
              <a:t>Folie </a:t>
            </a:r>
            <a:fld id="{44BA279E-E9BC-D743-974C-EFE8A41952FB}" type="slidenum">
              <a:rPr lang="de-DE" sz="800" smtClean="0">
                <a:solidFill>
                  <a:schemeClr val="tx1"/>
                </a:solidFill>
              </a:rPr>
              <a:pPr algn="l">
                <a:spcBef>
                  <a:spcPct val="50000"/>
                </a:spcBef>
              </a:pPr>
              <a:t>‹Nr.›</a:t>
            </a:fld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300" y="4645742"/>
            <a:ext cx="6829732" cy="13929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>
              <a:defRPr lang="de-DE" sz="800" dirty="0">
                <a:solidFill>
                  <a:schemeClr val="tx1"/>
                </a:solidFill>
              </a:defRPr>
            </a:lvl1pPr>
          </a:lstStyle>
          <a:p>
            <a:pPr algn="l"/>
            <a:r>
              <a:rPr lang="de-DE" dirty="0"/>
              <a:t>Autor (4/2022)</a:t>
            </a:r>
          </a:p>
        </p:txBody>
      </p:sp>
      <p:sp>
        <p:nvSpPr>
          <p:cNvPr id="17" name="Titel 6"/>
          <p:cNvSpPr>
            <a:spLocks noGrp="1"/>
          </p:cNvSpPr>
          <p:nvPr>
            <p:ph type="title" hasCustomPrompt="1"/>
          </p:nvPr>
        </p:nvSpPr>
        <p:spPr>
          <a:xfrm>
            <a:off x="249238" y="177800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>
              <a:defRPr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Headline (Arial 24 Pt, </a:t>
            </a:r>
            <a:r>
              <a:rPr lang="de-DE" dirty="0" err="1">
                <a:solidFill>
                  <a:schemeClr val="tx2"/>
                </a:solidFill>
                <a:latin typeface="Arial"/>
                <a:cs typeface="Arial"/>
              </a:rPr>
              <a:t>Bold</a:t>
            </a:r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8" name="Textplatzhalter 3" title="Test"/>
          <p:cNvSpPr>
            <a:spLocks noGrp="1"/>
          </p:cNvSpPr>
          <p:nvPr>
            <p:ph type="body" sz="quarter" idx="10" hasCustomPrompt="1"/>
          </p:nvPr>
        </p:nvSpPr>
        <p:spPr>
          <a:xfrm>
            <a:off x="249238" y="573087"/>
            <a:ext cx="8639175" cy="385557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8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Subheadline (Arial 18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  <p:cxnSp>
        <p:nvCxnSpPr>
          <p:cNvPr id="9" name="Gerade Verbindung 8"/>
          <p:cNvCxnSpPr/>
          <p:nvPr userDrawn="1"/>
        </p:nvCxnSpPr>
        <p:spPr bwMode="auto">
          <a:xfrm>
            <a:off x="0" y="934955"/>
            <a:ext cx="4575175" cy="0"/>
          </a:xfrm>
          <a:prstGeom prst="line">
            <a:avLst/>
          </a:prstGeom>
          <a:noFill/>
          <a:ln w="38100" cap="rnd" cmpd="sng" algn="ctr">
            <a:solidFill>
              <a:srgbClr val="BE006E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249238" y="1127125"/>
            <a:ext cx="8648699" cy="34242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rgbClr val="005EAD"/>
              </a:buClr>
              <a:buNone/>
              <a:defRPr/>
            </a:lvl1pPr>
            <a:lvl2pPr marL="631825" indent="-180975"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8090283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</p:sldLayoutIdLst>
  <p:transition>
    <p:fade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5EAD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marL="188913" indent="-188913" algn="l" rtl="0" eaLnBrk="1" fontAlgn="base" hangingPunct="1">
        <a:spcBef>
          <a:spcPct val="0"/>
        </a:spcBef>
        <a:spcAft>
          <a:spcPct val="30000"/>
        </a:spcAft>
        <a:buClr>
          <a:srgbClr val="005EAD"/>
        </a:buClr>
        <a:buFont typeface="Wingdings" charset="0"/>
        <a:buChar char="§"/>
        <a:defRPr sz="1600">
          <a:solidFill>
            <a:schemeClr val="tx1"/>
          </a:solidFill>
          <a:latin typeface="Arial"/>
          <a:ea typeface="+mn-ea"/>
          <a:cs typeface="Arial"/>
        </a:defRPr>
      </a:lvl1pPr>
      <a:lvl2pPr marL="665163" indent="-285750" algn="l" rtl="0" eaLnBrk="1" fontAlgn="base" hangingPunct="1">
        <a:spcBef>
          <a:spcPct val="0"/>
        </a:spcBef>
        <a:spcAft>
          <a:spcPct val="30000"/>
        </a:spcAft>
        <a:buClr>
          <a:srgbClr val="005EAD"/>
        </a:buClr>
        <a:buFont typeface="Wingdings" charset="0"/>
        <a:buChar char="§"/>
        <a:defRPr sz="1600">
          <a:solidFill>
            <a:schemeClr val="tx1"/>
          </a:solidFill>
          <a:latin typeface="Arial"/>
          <a:ea typeface="+mn-ea"/>
          <a:cs typeface="Arial"/>
        </a:defRPr>
      </a:lvl2pPr>
      <a:lvl3pPr marL="1084263" indent="-228600" algn="l" rtl="0" eaLnBrk="1" fontAlgn="base" hangingPunct="1">
        <a:spcBef>
          <a:spcPct val="0"/>
        </a:spcBef>
        <a:spcAft>
          <a:spcPct val="30000"/>
        </a:spcAft>
        <a:buClr>
          <a:srgbClr val="005EAD"/>
        </a:buClr>
        <a:buFont typeface="Wingdings" charset="0"/>
        <a:buChar char="§"/>
        <a:defRPr sz="1600">
          <a:solidFill>
            <a:schemeClr val="tx1"/>
          </a:solidFill>
          <a:latin typeface="Arial"/>
          <a:ea typeface="+mn-ea"/>
          <a:cs typeface="Arial"/>
        </a:defRPr>
      </a:lvl3pPr>
      <a:lvl4pPr marL="1503363" indent="-228600" algn="l" rtl="0" eaLnBrk="1" fontAlgn="base" hangingPunct="1">
        <a:spcBef>
          <a:spcPct val="0"/>
        </a:spcBef>
        <a:spcAft>
          <a:spcPct val="30000"/>
        </a:spcAft>
        <a:buClr>
          <a:srgbClr val="005EAD"/>
        </a:buClr>
        <a:buFont typeface="Wingdings" charset="0"/>
        <a:buChar char="§"/>
        <a:tabLst/>
        <a:defRPr sz="1600">
          <a:solidFill>
            <a:schemeClr val="tx1"/>
          </a:solidFill>
          <a:latin typeface="Arial"/>
          <a:ea typeface="+mn-ea"/>
          <a:cs typeface="Arial"/>
        </a:defRPr>
      </a:lvl4pPr>
      <a:lvl5pPr marL="1922463" indent="-228600" algn="l" rtl="0" eaLnBrk="1" fontAlgn="base" hangingPunct="1">
        <a:spcBef>
          <a:spcPct val="0"/>
        </a:spcBef>
        <a:spcAft>
          <a:spcPct val="30000"/>
        </a:spcAft>
        <a:buClr>
          <a:srgbClr val="005EAD"/>
        </a:buClr>
        <a:buFont typeface="Wingdings" charset="0"/>
        <a:buChar char="§"/>
        <a:defRPr sz="1600">
          <a:solidFill>
            <a:schemeClr val="tx1"/>
          </a:solidFill>
          <a:latin typeface="Arial"/>
          <a:ea typeface="+mn-ea"/>
          <a:cs typeface="Arial"/>
        </a:defRPr>
      </a:lvl5pPr>
      <a:lvl6pPr marL="2379663" indent="-228600" algn="l" rtl="0" eaLnBrk="1" fontAlgn="base" hangingPunct="1">
        <a:spcBef>
          <a:spcPct val="0"/>
        </a:spcBef>
        <a:spcAft>
          <a:spcPct val="30000"/>
        </a:spcAft>
        <a:buClr>
          <a:srgbClr val="00377D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</a:defRPr>
      </a:lvl6pPr>
      <a:lvl7pPr marL="2836863" indent="-228600" algn="l" rtl="0" eaLnBrk="1" fontAlgn="base" hangingPunct="1">
        <a:spcBef>
          <a:spcPct val="0"/>
        </a:spcBef>
        <a:spcAft>
          <a:spcPct val="30000"/>
        </a:spcAft>
        <a:buClr>
          <a:srgbClr val="00377D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</a:defRPr>
      </a:lvl7pPr>
      <a:lvl8pPr marL="3294063" indent="-228600" algn="l" rtl="0" eaLnBrk="1" fontAlgn="base" hangingPunct="1">
        <a:spcBef>
          <a:spcPct val="0"/>
        </a:spcBef>
        <a:spcAft>
          <a:spcPct val="30000"/>
        </a:spcAft>
        <a:buClr>
          <a:srgbClr val="00377D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</a:defRPr>
      </a:lvl8pPr>
      <a:lvl9pPr marL="3751263" indent="-228600" algn="l" rtl="0" eaLnBrk="1" fontAlgn="base" hangingPunct="1">
        <a:spcBef>
          <a:spcPct val="0"/>
        </a:spcBef>
        <a:spcAft>
          <a:spcPct val="30000"/>
        </a:spcAft>
        <a:buClr>
          <a:srgbClr val="00377D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sky-network.org/" TargetMode="External"/><Relationship Id="rId3" Type="http://schemas.openxmlformats.org/officeDocument/2006/relationships/hyperlink" Target="https://de.wikipedia.org/wiki/Liste_der_gr&#246;&#223;ten_Verkehrsflugh&#228;fen" TargetMode="External"/><Relationship Id="rId7" Type="http://schemas.openxmlformats.org/officeDocument/2006/relationships/hyperlink" Target="https://de.flightaware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flightradar24.com/data" TargetMode="External"/><Relationship Id="rId5" Type="http://schemas.openxmlformats.org/officeDocument/2006/relationships/hyperlink" Target="https://www.flightera.net/" TargetMode="External"/><Relationship Id="rId4" Type="http://schemas.openxmlformats.org/officeDocument/2006/relationships/hyperlink" Target="https://de.wikipedia.org/wiki/Liste_von_aktiven_Fluggesellschaften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241804" y="66908"/>
            <a:ext cx="8638960" cy="819900"/>
          </a:xfrm>
        </p:spPr>
        <p:txBody>
          <a:bodyPr/>
          <a:lstStyle/>
          <a:p>
            <a:r>
              <a:rPr lang="de-DE" dirty="0"/>
              <a:t>Web-basierte Analyse von Airline- und Flughafendaten durch automatisiertes Web-Scraping - Web Mining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256672" y="4233337"/>
            <a:ext cx="4858236" cy="385557"/>
          </a:xfrm>
        </p:spPr>
        <p:txBody>
          <a:bodyPr/>
          <a:lstStyle/>
          <a:p>
            <a:r>
              <a:rPr lang="de-DE" sz="1400" i="1" dirty="0">
                <a:solidFill>
                  <a:schemeClr val="bg1">
                    <a:lumMod val="50000"/>
                  </a:schemeClr>
                </a:solidFill>
              </a:rPr>
              <a:t>Kevin Cioch, Cihan Wiatrowski </a:t>
            </a:r>
          </a:p>
        </p:txBody>
      </p:sp>
      <p:pic>
        <p:nvPicPr>
          <p:cNvPr id="6" name="Bild 5" descr="shutterstock_730562770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32" b="21685"/>
          <a:stretch/>
        </p:blipFill>
        <p:spPr>
          <a:xfrm>
            <a:off x="0" y="950912"/>
            <a:ext cx="9162000" cy="3248057"/>
          </a:xfrm>
          <a:prstGeom prst="rect">
            <a:avLst/>
          </a:prstGeom>
        </p:spPr>
      </p:pic>
      <p:cxnSp>
        <p:nvCxnSpPr>
          <p:cNvPr id="7" name="Gerade Verbindung 6"/>
          <p:cNvCxnSpPr/>
          <p:nvPr/>
        </p:nvCxnSpPr>
        <p:spPr bwMode="auto">
          <a:xfrm>
            <a:off x="0" y="4179600"/>
            <a:ext cx="4575175" cy="0"/>
          </a:xfrm>
          <a:prstGeom prst="line">
            <a:avLst/>
          </a:prstGeom>
          <a:noFill/>
          <a:ln w="38100" cap="rnd" cmpd="sng" algn="ctr">
            <a:solidFill>
              <a:srgbClr val="B0046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Google Shape;88;p13">
            <a:extLst>
              <a:ext uri="{FF2B5EF4-FFF2-40B4-BE49-F238E27FC236}">
                <a16:creationId xmlns:a16="http://schemas.microsoft.com/office/drawing/2014/main" id="{229F44EC-DCC0-D615-7331-69505FEDDD41}"/>
              </a:ext>
            </a:extLst>
          </p:cNvPr>
          <p:cNvPicPr preferRelativeResize="0"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286954" y="4219504"/>
            <a:ext cx="1286954" cy="8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464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 0.19414 L 0.2 0.18611 C 0.2 0.02685 0.46267 -0.16852 0.67621 -0.16852 L 1.15364 -0.16852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674" y="-1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04B810-553C-906F-B820-985F04B9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77" y="519065"/>
            <a:ext cx="8638960" cy="336550"/>
          </a:xfrm>
        </p:spPr>
        <p:txBody>
          <a:bodyPr/>
          <a:lstStyle/>
          <a:p>
            <a:r>
              <a:rPr lang="de" dirty="0"/>
              <a:t>Inhaltsverzeichnis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EFE9396-993B-4D86-C01A-9AB505F52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Projektidee und Zielsetzung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Datenquellen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Aktueller Stand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Architektur und Design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Schwierigkeiten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Nächste Schritte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953EE9-D86A-B742-BBF6-FC70229E4A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958730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56980-DC79-4247-B078-6CFC1BD8E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9F33EB-30B7-0FDB-3B2E-E9ED408554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14682E1-A818-D99E-CDD3-719BFC5E8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Web-Mining-Projekt zur Erfassung Flugdaten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Kombination aus Flughafen-Stammdaten und aktuellen Flugbewegungen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Automatische Erfassung zentral bereitgestellter Luftverkehrsdaten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 dirty="0"/>
              <a:t>Ziele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Interaktive Darstellung von Flughäfen auf einer Karte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Analyse von Verspätungen, Ausfällen und Flugaufkommen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A6B40067-F355-85D0-49EA-5DC28D16CB8A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Projektidee und Zielsetzung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141541865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038EF-6B62-902F-50FA-956CB834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9F6FB7-72D1-0F33-6988-8309907961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3458990-F7C8-4538-E5BB-832834A6C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Stammdaten von Flughäfen und Airlines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>
                <a:hlinkClick r:id="rId3"/>
              </a:rPr>
              <a:t>https://de.wikipedia.org/</a:t>
            </a:r>
            <a:r>
              <a:rPr lang="de-DE" dirty="0" err="1">
                <a:hlinkClick r:id="rId3"/>
              </a:rPr>
              <a:t>wiki</a:t>
            </a:r>
            <a:r>
              <a:rPr lang="de-DE" dirty="0">
                <a:hlinkClick r:id="rId3"/>
              </a:rPr>
              <a:t>/</a:t>
            </a:r>
            <a:r>
              <a:rPr lang="de-DE" dirty="0" err="1">
                <a:hlinkClick r:id="rId3"/>
              </a:rPr>
              <a:t>Liste_der_größten_Verkehrsflughäfen</a:t>
            </a:r>
            <a:endParaRPr lang="de-DE"/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>
                <a:hlinkClick r:id="rId4"/>
              </a:rPr>
              <a:t>https</a:t>
            </a:r>
            <a:r>
              <a:rPr lang="de-DE" dirty="0">
                <a:hlinkClick r:id="rId4"/>
              </a:rPr>
              <a:t>://de.wikipedia.org/wiki/Liste_von_aktiven_Fluggesellschaften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Dynamische Flugdaten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>
                <a:hlinkClick r:id="rId5"/>
              </a:rPr>
              <a:t>https://www.flightera.net</a:t>
            </a:r>
            <a:endParaRPr lang="de-DE" dirty="0"/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>
                <a:hlinkClick r:id="rId6"/>
              </a:rPr>
              <a:t>https://www.flightradar24.com/data</a:t>
            </a:r>
            <a:endParaRPr lang="de-DE" dirty="0"/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>
                <a:hlinkClick r:id="rId7"/>
              </a:rPr>
              <a:t>https://de.flightaware.com</a:t>
            </a:r>
            <a:endParaRPr lang="de-DE" dirty="0"/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>
                <a:hlinkClick r:id="rId8"/>
              </a:rPr>
              <a:t>https://opensky-network.org</a:t>
            </a:r>
            <a:endParaRPr lang="de-DE" dirty="0"/>
          </a:p>
          <a:p>
            <a:pPr marL="917575" lvl="1" indent="-285750">
              <a:buFont typeface="Wingdings" panose="05000000000000000000" pitchFamily="2" charset="2"/>
              <a:buChar char="§"/>
            </a:pPr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C5BF327-F042-1D94-42E6-2505CDF99C5E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Datenquellen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364518449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689C8-99BE-DD70-0350-42209B23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0062F6-1D3D-14CE-39F4-13ADA6AFF5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AD31B38-D158-8B13-94DC-952FB3ED3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 err="1"/>
              <a:t>Scrapy</a:t>
            </a:r>
            <a:r>
              <a:rPr lang="de-DE" dirty="0"/>
              <a:t> Spider für Flughafen-Stammdaten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62 internationale Flughäfen erfasst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 err="1"/>
              <a:t>Scrapy</a:t>
            </a:r>
            <a:r>
              <a:rPr lang="de-DE" dirty="0"/>
              <a:t> Spider für Airline-Stammdaten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 err="1"/>
              <a:t>Scrapy</a:t>
            </a:r>
            <a:r>
              <a:rPr lang="de-DE" dirty="0"/>
              <a:t> Spider für Länder-Stammdaten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Erfassung aktueller und historischer Flugbewegungen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Flightera.net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FlightAware.com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Entwicklung des </a:t>
            </a:r>
            <a:r>
              <a:rPr lang="de-DE" dirty="0" err="1"/>
              <a:t>Frontends</a:t>
            </a:r>
            <a:r>
              <a:rPr lang="de-DE" dirty="0"/>
              <a:t> für die Webanwendung gestartet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ECD232B-5A90-6A84-4E07-4EE6489A05A2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Aktueller Stand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228870062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3FB05-D1B3-8C56-93D1-714649849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103151-71E1-DE58-2A73-DDBD7490E2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B571B0D-0262-B4DD-C264-D21A5532B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 dirty="0"/>
              <a:t>Webanwendung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Frontend: Angular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Backend-API: </a:t>
            </a:r>
            <a:r>
              <a:rPr lang="de-DE" dirty="0" err="1"/>
              <a:t>ExpressJS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 dirty="0"/>
              <a:t>Crawler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Periodische Ausführung von </a:t>
            </a:r>
            <a:r>
              <a:rPr lang="de-DE" dirty="0" err="1"/>
              <a:t>Crawling</a:t>
            </a:r>
            <a:r>
              <a:rPr lang="de-DE" dirty="0"/>
              <a:t>-/Scraping-Skripten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Bibliotheken:</a:t>
            </a:r>
          </a:p>
          <a:p>
            <a:pPr marL="1370013" lvl="2" indent="-285750">
              <a:buFont typeface="Wingdings" panose="05000000000000000000" pitchFamily="2" charset="2"/>
              <a:buChar char="§"/>
            </a:pPr>
            <a:r>
              <a:rPr lang="de-DE" dirty="0" err="1"/>
              <a:t>Scrapy</a:t>
            </a:r>
            <a:endParaRPr lang="de-DE" dirty="0"/>
          </a:p>
          <a:p>
            <a:pPr marL="1370013" lvl="2" indent="-285750">
              <a:buFont typeface="Wingdings" panose="05000000000000000000" pitchFamily="2" charset="2"/>
              <a:buChar char="§"/>
            </a:pPr>
            <a:r>
              <a:rPr lang="de-DE" dirty="0" err="1"/>
              <a:t>BeautifulSoup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 dirty="0" err="1"/>
              <a:t>Datenpersistierung</a:t>
            </a:r>
            <a:r>
              <a:rPr lang="de-DE" b="1" dirty="0"/>
              <a:t> in zentraler Datenbank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PostgreSQL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DDCD8A9-FFB2-7CE4-9FCB-AE7E5CE6A492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Architektur und Design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286636209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E0BA3-460D-2405-3BBD-49761548A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92ED79-9594-9197-BC1D-12E4DED44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7F1800-0693-7127-17CF-E131212EE0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D8D3B09-3838-F0B5-2D57-EC80F5200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de-DE" dirty="0"/>
              <a:t> </a:t>
            </a:r>
          </a:p>
        </p:txBody>
      </p:sp>
      <p:pic>
        <p:nvPicPr>
          <p:cNvPr id="5" name="Google Shape;130;p19">
            <a:extLst>
              <a:ext uri="{FF2B5EF4-FFF2-40B4-BE49-F238E27FC236}">
                <a16:creationId xmlns:a16="http://schemas.microsoft.com/office/drawing/2014/main" id="{20A8EE83-0731-A68F-444C-A2E6C798177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44957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01674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1F9D5-FB4E-84BE-B320-3776DBEC8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16E62-5C52-1B38-854C-BA9A37E96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7D827E-1791-7E0A-1D58-08B542EA7B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23DE142-6755-C8D2-1F41-FCD3EF38A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de-DE" dirty="0"/>
              <a:t> </a:t>
            </a:r>
          </a:p>
        </p:txBody>
      </p:sp>
      <p:pic>
        <p:nvPicPr>
          <p:cNvPr id="5" name="Google Shape;138;p20">
            <a:extLst>
              <a:ext uri="{FF2B5EF4-FFF2-40B4-BE49-F238E27FC236}">
                <a16:creationId xmlns:a16="http://schemas.microsoft.com/office/drawing/2014/main" id="{2292CC7D-15B0-4AEC-5E8A-D9BF86C12EF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282" y="0"/>
            <a:ext cx="9144000" cy="44910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647238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57D8E-DCB3-9A8B-67F9-A1FFF322E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EA9DBD-6B15-C223-6EFC-3C63F9183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C38277-A172-E52E-3016-8F761BA46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Bot-Erkennung und Captchas bei häufigen Anfragen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Rechtliche und technische Einschränkungen der Datenquellen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Skalierbare Handhabung von Daten- und Request-Aufkommen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A235DD1-F0A0-8E3C-0BBB-170FB25BE2A8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Schwierigkeiten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333660791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A0C81-0107-B0F2-6292-247DD1CF2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1356F0-EFA6-D9E4-DBCB-426B7DF14F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8FB1171-10AD-D71A-0C72-484918C41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Crawler-Skripte automatisieren und Datenbank anbinden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Erweiterung der bestehenden Crawler (z.B. weitere Informationen zu Airlines)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Webanwendung: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Frontend vervollständigen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Backend-API implementieren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Crawlen von Ticketpreisen (Optional)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475C5271-CAF8-54F9-3860-7E4F3F1AC48B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Nächste Schritte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375984683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9DC65D-D316-6906-F4A9-BDB4A4256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pic>
        <p:nvPicPr>
          <p:cNvPr id="6" name="Inhaltsplatzhalter 5" descr="Kundenbewertung Silhouette">
            <a:extLst>
              <a:ext uri="{FF2B5EF4-FFF2-40B4-BE49-F238E27FC236}">
                <a16:creationId xmlns:a16="http://schemas.microsoft.com/office/drawing/2014/main" id="{DB91DB5A-561F-1705-A21A-0B0742B65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8521" y="1410020"/>
            <a:ext cx="3160393" cy="3160393"/>
          </a:xfr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5CC4A2FE-928B-1D57-4566-DEC98887E457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-DE" dirty="0"/>
              <a:t>Diskussion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111951649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aster_16zu9 2022">
  <a:themeElements>
    <a:clrScheme name="Leere Präsentation 2">
      <a:dk1>
        <a:srgbClr val="000000"/>
      </a:dk1>
      <a:lt1>
        <a:srgbClr val="FFFFFF"/>
      </a:lt1>
      <a:dk2>
        <a:srgbClr val="005EAD"/>
      </a:dk2>
      <a:lt2>
        <a:srgbClr val="000000"/>
      </a:lt2>
      <a:accent1>
        <a:srgbClr val="C0C0C0"/>
      </a:accent1>
      <a:accent2>
        <a:srgbClr val="005EAD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49C"/>
      </a:accent6>
      <a:hlink>
        <a:srgbClr val="B2B2B2"/>
      </a:hlink>
      <a:folHlink>
        <a:srgbClr val="000000"/>
      </a:folHlink>
    </a:clrScheme>
    <a:fontScheme name="Leere Prä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2"/>
              </a:solidFill>
            </a14:hiddenFill>
          </a:ex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="" xmlns:a14="http://schemas.microsoft.com/office/drawing/2010/main">
              <a:solidFill>
                <a:schemeClr val="accent2"/>
              </a:solidFill>
            </a14:hiddenFill>
          </a:ex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33CC"/>
        </a:dk2>
        <a:lt2>
          <a:srgbClr val="000000"/>
        </a:lt2>
        <a:accent1>
          <a:srgbClr val="3399FF"/>
        </a:accent1>
        <a:accent2>
          <a:srgbClr val="0033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002DB9"/>
        </a:accent6>
        <a:hlink>
          <a:srgbClr val="CC00CC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5EAD"/>
        </a:dk2>
        <a:lt2>
          <a:srgbClr val="000000"/>
        </a:lt2>
        <a:accent1>
          <a:srgbClr val="C0C0C0"/>
        </a:accent1>
        <a:accent2>
          <a:srgbClr val="005EA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49C"/>
        </a:accent6>
        <a:hlink>
          <a:srgbClr val="B2B2B2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PPT-Master_16zu9_2022</Template>
  <TotalTime>0</TotalTime>
  <Words>262</Words>
  <Application>Microsoft Office PowerPoint</Application>
  <PresentationFormat>Bildschirmpräsentation (16:9)</PresentationFormat>
  <Paragraphs>71</Paragraphs>
  <Slides>11</Slides>
  <Notes>11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  <vt:variant>
        <vt:lpstr>Zielgruppenorientierte Präsentationen</vt:lpstr>
      </vt:variant>
      <vt:variant>
        <vt:i4>1</vt:i4>
      </vt:variant>
    </vt:vector>
  </HeadingPairs>
  <TitlesOfParts>
    <vt:vector size="17" baseType="lpstr">
      <vt:lpstr>Arial</vt:lpstr>
      <vt:lpstr>Syntax</vt:lpstr>
      <vt:lpstr>Times</vt:lpstr>
      <vt:lpstr>Wingdings</vt:lpstr>
      <vt:lpstr>Master_16zu9 2022</vt:lpstr>
      <vt:lpstr>Web-basierte Analyse von Airline- und Flughafendaten durch automatisiertes Web-Scraping - Web Mining</vt:lpstr>
      <vt:lpstr>Inhaltsverzeichnis</vt:lpstr>
      <vt:lpstr>PowerPoint-Präsentation</vt:lpstr>
      <vt:lpstr>PowerPoint-Präsentation</vt:lpstr>
      <vt:lpstr>PowerPoint-Präsentation</vt:lpstr>
      <vt:lpstr>PowerPoint-Präsentation</vt:lpstr>
      <vt:lpstr> </vt:lpstr>
      <vt:lpstr> </vt:lpstr>
      <vt:lpstr>PowerPoint-Präsentation</vt:lpstr>
      <vt:lpstr>PowerPoint-Präsentation</vt:lpstr>
      <vt:lpstr>PowerPoint-Präsentation</vt:lpstr>
      <vt:lpstr>Mustermann1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Doga Arinir</dc:creator>
  <cp:lastModifiedBy>Cihan Wiatrowski</cp:lastModifiedBy>
  <cp:revision>58</cp:revision>
  <cp:lastPrinted>2010-04-29T14:30:22Z</cp:lastPrinted>
  <dcterms:created xsi:type="dcterms:W3CDTF">2023-10-17T18:36:52Z</dcterms:created>
  <dcterms:modified xsi:type="dcterms:W3CDTF">2026-07-21T15:17:30Z</dcterms:modified>
</cp:coreProperties>
</file>